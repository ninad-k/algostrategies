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322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0013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8686800" cy="0"/>
          </a:xfrm>
          <a:prstGeom prst="line">
            <a:avLst/>
          </a:prstGeom>
          <a:noFill/>
          <a:ln w="12700">
            <a:solidFill>
              <a:srgbClr val="1C3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686800" cy="0"/>
          </a:xfrm>
          <a:prstGeom prst="line">
            <a:avLst/>
          </a:prstGeom>
          <a:noFill/>
          <a:ln w="12700">
            <a:solidFill>
              <a:srgbClr val="1C3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8686800" cy="0"/>
          </a:xfrm>
          <a:prstGeom prst="line">
            <a:avLst/>
          </a:prstGeom>
          <a:noFill/>
          <a:ln w="12700">
            <a:solidFill>
              <a:srgbClr val="1C3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2514600"/>
            <a:ext cx="8686800" cy="0"/>
          </a:xfrm>
          <a:prstGeom prst="line">
            <a:avLst/>
          </a:prstGeom>
          <a:noFill/>
          <a:ln w="12700">
            <a:solidFill>
              <a:srgbClr val="1C3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3154680"/>
            <a:ext cx="8686800" cy="0"/>
          </a:xfrm>
          <a:prstGeom prst="line">
            <a:avLst/>
          </a:prstGeom>
          <a:noFill/>
          <a:ln w="12700">
            <a:solidFill>
              <a:srgbClr val="1C3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3794760"/>
            <a:ext cx="8686800" cy="0"/>
          </a:xfrm>
          <a:prstGeom prst="line">
            <a:avLst/>
          </a:prstGeom>
          <a:noFill/>
          <a:ln w="12700">
            <a:solidFill>
              <a:srgbClr val="1C3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4434840"/>
            <a:ext cx="8686800" cy="0"/>
          </a:xfrm>
          <a:prstGeom prst="line">
            <a:avLst/>
          </a:prstGeom>
          <a:noFill/>
          <a:ln w="12700">
            <a:solidFill>
              <a:srgbClr val="1C3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5074920"/>
            <a:ext cx="8686800" cy="0"/>
          </a:xfrm>
          <a:prstGeom prst="line">
            <a:avLst/>
          </a:prstGeom>
          <a:noFill/>
          <a:ln w="12700">
            <a:solidFill>
              <a:srgbClr val="1C3A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822960"/>
            <a:ext cx="5669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Performance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B3E0"/>
                </a:solidFill>
              </a:rPr>
              <a:t>UI Wireframes  ·  Version 1.0  ·  April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640080"/>
            <a:ext cx="2423160" cy="4160520"/>
          </a:xfrm>
          <a:prstGeom prst="rect">
            <a:avLst/>
          </a:prstGeom>
          <a:solidFill>
            <a:srgbClr val="162F52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0" y="749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BB3E0"/>
                </a:solidFill>
              </a:rPr>
              <a:t>Screens Covered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583680" y="1005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01  Screen Navigation Map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58368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7F0"/>
                </a:solidFill>
              </a:rPr>
              <a:t>02  Main Dashboard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58368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7F0"/>
                </a:solidFill>
              </a:rPr>
              <a:t>03  Drill-Down Detail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58368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7F0"/>
                </a:solidFill>
              </a:rPr>
              <a:t>04  P&amp;L by Symbol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58368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7F0"/>
                </a:solidFill>
              </a:rPr>
              <a:t>05  Comparison View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7F0"/>
                </a:solidFill>
              </a:rPr>
              <a:t>06  Config — Manual Traders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58368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7F0"/>
                </a:solidFill>
              </a:rPr>
              <a:t>07  Config — Algo Strategies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58368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7F0"/>
                </a:solidFill>
              </a:rPr>
              <a:t>08  Dispute Resolution Screen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58368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C7F0"/>
                </a:solidFill>
              </a:rPr>
              <a:t>09  Attribution Cascade Flow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Trading Performance Dashboard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383280" y="64008"/>
            <a:ext cx="2651760" cy="246888"/>
          </a:xfrm>
          <a:prstGeom prst="rect">
            <a:avLst/>
          </a:prstGeom>
          <a:solidFill>
            <a:srgbClr val="2A4A72"/>
          </a:solidFill>
          <a:ln w="12700">
            <a:solidFill>
              <a:srgbClr val="3B6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Manual Traders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Algo Strategies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309360" y="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C7F0"/>
                </a:solidFill>
              </a:rPr>
              <a:t>Dashboard  |  Config  |  Disputes ●3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2880" y="4480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Screen Navigation Map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" y="70408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</a:rPr>
              <a:t>All screens and how they connect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8600" y="987552"/>
            <a:ext cx="14173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8600" y="98755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Data Upload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(CSV / Excel)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965960" y="987552"/>
            <a:ext cx="14173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965960" y="98755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Configuration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Screen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49040" y="987552"/>
            <a:ext cx="14173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749040" y="98755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Main Dashboard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(Leaderboard)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486400" y="987552"/>
            <a:ext cx="141732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FCA5A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0" y="98755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Dispute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Resolution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269480" y="987552"/>
            <a:ext cx="141732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269480" y="98755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Guest / Common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Category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49040" y="2286000"/>
            <a:ext cx="14173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749040" y="228600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Drill-Down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Detail Panel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965960" y="2286000"/>
            <a:ext cx="14173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965960" y="228600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P&amp;L by Symbol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View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486400" y="2286000"/>
            <a:ext cx="14173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0" y="228600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Comparison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View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749040" y="3520440"/>
            <a:ext cx="1417320" cy="530352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749040" y="352044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Attribution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Cascade Engine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45920" y="1252728"/>
            <a:ext cx="32004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383280" y="1252728"/>
            <a:ext cx="32004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166360" y="1252728"/>
            <a:ext cx="32004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903720" y="1252728"/>
            <a:ext cx="32004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457700" y="1517904"/>
            <a:ext cx="0" cy="76809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457700" y="2816352"/>
            <a:ext cx="0" cy="704088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383280" y="2551176"/>
            <a:ext cx="36576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166360" y="2551176"/>
            <a:ext cx="32004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818120" y="2286000"/>
            <a:ext cx="1143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891272" y="2359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</a:rPr>
              <a:t>Legend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909560" y="2578608"/>
            <a:ext cx="128016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074152" y="257860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Core screen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7909560" y="2798064"/>
            <a:ext cx="128016" cy="12801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074152" y="279806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Setup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7909560" y="3017520"/>
            <a:ext cx="128016" cy="128016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074152" y="301752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Exception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7909560" y="3236976"/>
            <a:ext cx="128016" cy="128016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074152" y="323697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Auto-hold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7909560" y="3456432"/>
            <a:ext cx="128016" cy="128016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074152" y="345643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Engine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Trading Performance Dashboard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383280" y="64008"/>
            <a:ext cx="2651760" cy="246888"/>
          </a:xfrm>
          <a:prstGeom prst="rect">
            <a:avLst/>
          </a:prstGeom>
          <a:solidFill>
            <a:srgbClr val="2A4A72"/>
          </a:solidFill>
          <a:ln w="12700">
            <a:solidFill>
              <a:srgbClr val="3B6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Manual Traders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Algo Strategies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309360" y="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C7F0"/>
                </a:solidFill>
              </a:rPr>
              <a:t>Dashboard  |  Config  |  Disputes ●3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0" y="448056"/>
            <a:ext cx="91440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7160" y="44805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</a:rPr>
              <a:t>Filters: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594360" y="480060"/>
            <a:ext cx="100584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4800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563EB"/>
                </a:solidFill>
              </a:rPr>
              <a:t>This Month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627632" y="480060"/>
            <a:ext cx="100584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627632" y="4800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</a:rPr>
              <a:t>All Accounts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660904" y="480060"/>
            <a:ext cx="100584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660904" y="4800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</a:rPr>
              <a:t>All Traders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694176" y="480060"/>
            <a:ext cx="100584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94176" y="4800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</a:rPr>
              <a:t>All Symbols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315200" y="44805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563EB"/>
                </a:solidFill>
              </a:rPr>
              <a:t>View: By Trader  ▾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82880" y="731520"/>
            <a:ext cx="172638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82880" y="731520"/>
            <a:ext cx="457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" y="777240"/>
            <a:ext cx="158922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Total Net P&amp;L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74320" y="923544"/>
            <a:ext cx="158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$12,840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1161288"/>
            <a:ext cx="15892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This Month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1945843" y="731520"/>
            <a:ext cx="172638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945843" y="731520"/>
            <a:ext cx="4572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037283" y="777240"/>
            <a:ext cx="158922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Total Trades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037283" y="923544"/>
            <a:ext cx="158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247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37283" y="1161288"/>
            <a:ext cx="15892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Closed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3708806" y="731520"/>
            <a:ext cx="172638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708806" y="731520"/>
            <a:ext cx="457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800246" y="777240"/>
            <a:ext cx="158922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Fund Win Rate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800246" y="923544"/>
            <a:ext cx="158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63.2%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00246" y="1161288"/>
            <a:ext cx="15892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All categories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5471770" y="731520"/>
            <a:ext cx="172638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471770" y="731520"/>
            <a:ext cx="457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563210" y="777240"/>
            <a:ext cx="158922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Best Performer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563210" y="923544"/>
            <a:ext cx="158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John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63210" y="1161288"/>
            <a:ext cx="15892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+$4,320 net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7234733" y="731520"/>
            <a:ext cx="1726387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234733" y="731520"/>
            <a:ext cx="457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326173" y="777240"/>
            <a:ext cx="158922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Guest / Unresolved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326173" y="923544"/>
            <a:ext cx="1589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12 trades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26173" y="1161288"/>
            <a:ext cx="158922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Needs review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182880" y="1444752"/>
            <a:ext cx="5394960" cy="36255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92608" y="14996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</a:rPr>
              <a:t>Leaderboard  ·  P&amp;L by Trader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83280" y="14996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563EB"/>
                </a:solidFill>
              </a:rPr>
              <a:t>Sort: Net P&amp;L  ▾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56032" y="1719072"/>
            <a:ext cx="219456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92608" y="171907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#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475488" y="1719072"/>
            <a:ext cx="9601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12064" y="1719072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Trader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435608" y="1719072"/>
            <a:ext cx="74980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1472184" y="171907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Net P&amp;L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2185416" y="1719072"/>
            <a:ext cx="52120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2221992" y="171907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Trades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2706624" y="1719072"/>
            <a:ext cx="5029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2743200" y="1719072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Win%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3209544" y="1719072"/>
            <a:ext cx="530352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246120" y="1719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Prof.F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3739896" y="1719072"/>
            <a:ext cx="54864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776472" y="17190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Max DD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4288536" y="1719072"/>
            <a:ext cx="530352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325112" y="1719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Avg R:R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4818888" y="1719072"/>
            <a:ext cx="667512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855464" y="17190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Top Sym.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256032" y="1920240"/>
            <a:ext cx="21945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92608" y="19202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475488" y="1920240"/>
            <a:ext cx="960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12064" y="192024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John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1435608" y="1920240"/>
            <a:ext cx="74980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1472184" y="192024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+$4,320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2185416" y="1920240"/>
            <a:ext cx="52120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2221992" y="1920240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82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2706624" y="1920240"/>
            <a:ext cx="5029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743200" y="192024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68%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3209544" y="1920240"/>
            <a:ext cx="5303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46120" y="1920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2.14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3739896" y="1920240"/>
            <a:ext cx="5486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776472" y="192024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C2626"/>
                </a:solidFill>
              </a:rPr>
              <a:t>-$420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4288536" y="1920240"/>
            <a:ext cx="5303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325112" y="1920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1.8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4818888" y="1920240"/>
            <a:ext cx="66751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4855464" y="19202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XAUUSD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256032" y="2103120"/>
            <a:ext cx="219456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292608" y="21031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2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475488" y="2103120"/>
            <a:ext cx="9601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512064" y="210312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Sarah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1435608" y="2103120"/>
            <a:ext cx="74980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1472184" y="210312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+$3,150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2185416" y="2103120"/>
            <a:ext cx="52120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2221992" y="2103120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65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2706624" y="2103120"/>
            <a:ext cx="5029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2743200" y="210312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61%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3209544" y="2103120"/>
            <a:ext cx="53035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246120" y="2103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1.87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3739896" y="2103120"/>
            <a:ext cx="5486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3776472" y="21031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C2626"/>
                </a:solidFill>
              </a:rPr>
              <a:t>-$310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4288536" y="2103120"/>
            <a:ext cx="53035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325112" y="2103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1.5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4818888" y="2103120"/>
            <a:ext cx="66751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855464" y="21031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EURUSD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256032" y="2286000"/>
            <a:ext cx="21945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92608" y="22860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3</a:t>
            </a:r>
            <a:endParaRPr lang="en-US" sz="600" dirty="0"/>
          </a:p>
        </p:txBody>
      </p:sp>
      <p:sp>
        <p:nvSpPr>
          <p:cNvPr id="105" name="Shape 103"/>
          <p:cNvSpPr/>
          <p:nvPr/>
        </p:nvSpPr>
        <p:spPr>
          <a:xfrm>
            <a:off x="475488" y="2286000"/>
            <a:ext cx="960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512064" y="228600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Mike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1435608" y="2286000"/>
            <a:ext cx="74980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1472184" y="228600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+$2,890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2185416" y="2286000"/>
            <a:ext cx="52120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2221992" y="2286000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54</a:t>
            </a:r>
            <a:endParaRPr lang="en-US" sz="600" dirty="0"/>
          </a:p>
        </p:txBody>
      </p:sp>
      <p:sp>
        <p:nvSpPr>
          <p:cNvPr id="111" name="Shape 109"/>
          <p:cNvSpPr/>
          <p:nvPr/>
        </p:nvSpPr>
        <p:spPr>
          <a:xfrm>
            <a:off x="2706624" y="2286000"/>
            <a:ext cx="5029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2743200" y="228600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59%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3209544" y="2286000"/>
            <a:ext cx="5303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3246120" y="2286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1.72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3739896" y="2286000"/>
            <a:ext cx="5486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3776472" y="22860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C2626"/>
                </a:solidFill>
              </a:rPr>
              <a:t>-$560</a:t>
            </a:r>
            <a:endParaRPr lang="en-US" sz="600" dirty="0"/>
          </a:p>
        </p:txBody>
      </p:sp>
      <p:sp>
        <p:nvSpPr>
          <p:cNvPr id="117" name="Shape 115"/>
          <p:cNvSpPr/>
          <p:nvPr/>
        </p:nvSpPr>
        <p:spPr>
          <a:xfrm>
            <a:off x="4288536" y="2286000"/>
            <a:ext cx="5303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4325112" y="2286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1.4</a:t>
            </a:r>
            <a:endParaRPr lang="en-US" sz="600" dirty="0"/>
          </a:p>
        </p:txBody>
      </p:sp>
      <p:sp>
        <p:nvSpPr>
          <p:cNvPr id="119" name="Shape 117"/>
          <p:cNvSpPr/>
          <p:nvPr/>
        </p:nvSpPr>
        <p:spPr>
          <a:xfrm>
            <a:off x="4818888" y="2286000"/>
            <a:ext cx="66751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4855464" y="2286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XAUUSD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256032" y="2468880"/>
            <a:ext cx="219456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292608" y="24688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4</a:t>
            </a:r>
            <a:endParaRPr lang="en-US" sz="600" dirty="0"/>
          </a:p>
        </p:txBody>
      </p:sp>
      <p:sp>
        <p:nvSpPr>
          <p:cNvPr id="123" name="Shape 121"/>
          <p:cNvSpPr/>
          <p:nvPr/>
        </p:nvSpPr>
        <p:spPr>
          <a:xfrm>
            <a:off x="475488" y="2468880"/>
            <a:ext cx="9601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512064" y="246888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Priya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1435608" y="2468880"/>
            <a:ext cx="74980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1472184" y="246888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+$1,580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2185416" y="2468880"/>
            <a:ext cx="52120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2221992" y="2468880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31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2706624" y="2468880"/>
            <a:ext cx="5029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2743200" y="246888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55%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3209544" y="2468880"/>
            <a:ext cx="53035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3246120" y="2468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1.45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3739896" y="2468880"/>
            <a:ext cx="5486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3776472" y="24688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C2626"/>
                </a:solidFill>
              </a:rPr>
              <a:t>-$290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4288536" y="2468880"/>
            <a:ext cx="53035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4325112" y="2468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1.2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4818888" y="2468880"/>
            <a:ext cx="66751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4855464" y="24688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GBPUSD</a:t>
            </a:r>
            <a:endParaRPr lang="en-US" sz="600" dirty="0"/>
          </a:p>
        </p:txBody>
      </p:sp>
      <p:sp>
        <p:nvSpPr>
          <p:cNvPr id="139" name="Shape 137"/>
          <p:cNvSpPr/>
          <p:nvPr/>
        </p:nvSpPr>
        <p:spPr>
          <a:xfrm>
            <a:off x="256032" y="2651760"/>
            <a:ext cx="219456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292608" y="265176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5</a:t>
            </a:r>
            <a:endParaRPr lang="en-US" sz="600" dirty="0"/>
          </a:p>
        </p:txBody>
      </p:sp>
      <p:sp>
        <p:nvSpPr>
          <p:cNvPr id="141" name="Shape 139"/>
          <p:cNvSpPr/>
          <p:nvPr/>
        </p:nvSpPr>
        <p:spPr>
          <a:xfrm>
            <a:off x="475488" y="2651760"/>
            <a:ext cx="96012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512064" y="265176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D97706"/>
                </a:solidFill>
              </a:rPr>
              <a:t>Guest</a:t>
            </a:r>
            <a:endParaRPr lang="en-US" sz="600" dirty="0"/>
          </a:p>
        </p:txBody>
      </p:sp>
      <p:sp>
        <p:nvSpPr>
          <p:cNvPr id="143" name="Shape 141"/>
          <p:cNvSpPr/>
          <p:nvPr/>
        </p:nvSpPr>
        <p:spPr>
          <a:xfrm>
            <a:off x="1435608" y="2651760"/>
            <a:ext cx="74980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1472184" y="265176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$900</a:t>
            </a:r>
            <a:endParaRPr lang="en-US" sz="600" dirty="0"/>
          </a:p>
        </p:txBody>
      </p:sp>
      <p:sp>
        <p:nvSpPr>
          <p:cNvPr id="145" name="Shape 143"/>
          <p:cNvSpPr/>
          <p:nvPr/>
        </p:nvSpPr>
        <p:spPr>
          <a:xfrm>
            <a:off x="2185416" y="2651760"/>
            <a:ext cx="52120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2221992" y="2651760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15</a:t>
            </a:r>
            <a:endParaRPr lang="en-US" sz="600" dirty="0"/>
          </a:p>
        </p:txBody>
      </p:sp>
      <p:sp>
        <p:nvSpPr>
          <p:cNvPr id="147" name="Shape 145"/>
          <p:cNvSpPr/>
          <p:nvPr/>
        </p:nvSpPr>
        <p:spPr>
          <a:xfrm>
            <a:off x="2706624" y="2651760"/>
            <a:ext cx="50292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Text 146"/>
          <p:cNvSpPr/>
          <p:nvPr/>
        </p:nvSpPr>
        <p:spPr>
          <a:xfrm>
            <a:off x="2743200" y="265176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—</a:t>
            </a:r>
            <a:endParaRPr lang="en-US" sz="600" dirty="0"/>
          </a:p>
        </p:txBody>
      </p:sp>
      <p:sp>
        <p:nvSpPr>
          <p:cNvPr id="149" name="Shape 147"/>
          <p:cNvSpPr/>
          <p:nvPr/>
        </p:nvSpPr>
        <p:spPr>
          <a:xfrm>
            <a:off x="3209544" y="2651760"/>
            <a:ext cx="53035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0" name="Text 148"/>
          <p:cNvSpPr/>
          <p:nvPr/>
        </p:nvSpPr>
        <p:spPr>
          <a:xfrm>
            <a:off x="3246120" y="2651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—</a:t>
            </a:r>
            <a:endParaRPr lang="en-US" sz="600" dirty="0"/>
          </a:p>
        </p:txBody>
      </p:sp>
      <p:sp>
        <p:nvSpPr>
          <p:cNvPr id="151" name="Shape 149"/>
          <p:cNvSpPr/>
          <p:nvPr/>
        </p:nvSpPr>
        <p:spPr>
          <a:xfrm>
            <a:off x="3739896" y="2651760"/>
            <a:ext cx="54864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Text 150"/>
          <p:cNvSpPr/>
          <p:nvPr/>
        </p:nvSpPr>
        <p:spPr>
          <a:xfrm>
            <a:off x="3776472" y="26517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C2626"/>
                </a:solidFill>
              </a:rPr>
              <a:t>—</a:t>
            </a:r>
            <a:endParaRPr lang="en-US" sz="600" dirty="0"/>
          </a:p>
        </p:txBody>
      </p:sp>
      <p:sp>
        <p:nvSpPr>
          <p:cNvPr id="153" name="Shape 151"/>
          <p:cNvSpPr/>
          <p:nvPr/>
        </p:nvSpPr>
        <p:spPr>
          <a:xfrm>
            <a:off x="4288536" y="2651760"/>
            <a:ext cx="53035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" name="Text 152"/>
          <p:cNvSpPr/>
          <p:nvPr/>
        </p:nvSpPr>
        <p:spPr>
          <a:xfrm>
            <a:off x="4325112" y="2651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—</a:t>
            </a:r>
            <a:endParaRPr lang="en-US" sz="600" dirty="0"/>
          </a:p>
        </p:txBody>
      </p:sp>
      <p:sp>
        <p:nvSpPr>
          <p:cNvPr id="155" name="Shape 153"/>
          <p:cNvSpPr/>
          <p:nvPr/>
        </p:nvSpPr>
        <p:spPr>
          <a:xfrm>
            <a:off x="4818888" y="2651760"/>
            <a:ext cx="66751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Text 154"/>
          <p:cNvSpPr/>
          <p:nvPr/>
        </p:nvSpPr>
        <p:spPr>
          <a:xfrm>
            <a:off x="4855464" y="26517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Mixed</a:t>
            </a:r>
            <a:endParaRPr lang="en-US" sz="600" dirty="0"/>
          </a:p>
        </p:txBody>
      </p:sp>
      <p:sp>
        <p:nvSpPr>
          <p:cNvPr id="157" name="Text 155"/>
          <p:cNvSpPr/>
          <p:nvPr/>
        </p:nvSpPr>
        <p:spPr>
          <a:xfrm>
            <a:off x="256032" y="2862072"/>
            <a:ext cx="5257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2563EB"/>
                </a:solidFill>
              </a:rPr>
              <a:t>↑  Click any row to open Drill-Down Detail</a:t>
            </a:r>
            <a:endParaRPr lang="en-US" sz="600" dirty="0"/>
          </a:p>
        </p:txBody>
      </p:sp>
      <p:sp>
        <p:nvSpPr>
          <p:cNvPr id="158" name="Shape 156"/>
          <p:cNvSpPr/>
          <p:nvPr/>
        </p:nvSpPr>
        <p:spPr>
          <a:xfrm>
            <a:off x="5669280" y="1444752"/>
            <a:ext cx="3291840" cy="195782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9" name="Text 157"/>
          <p:cNvSpPr/>
          <p:nvPr/>
        </p:nvSpPr>
        <p:spPr>
          <a:xfrm>
            <a:off x="5760720" y="149961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</a:rPr>
              <a:t>Equity Curve Preview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5742432" y="1691640"/>
            <a:ext cx="3145536" cy="161035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Text 159"/>
          <p:cNvSpPr/>
          <p:nvPr/>
        </p:nvSpPr>
        <p:spPr>
          <a:xfrm>
            <a:off x="5742432" y="1691640"/>
            <a:ext cx="3145536" cy="161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CA3AF"/>
                </a:solidFill>
              </a:rPr>
              <a:t>Cumulative P&amp;L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9CA3AF"/>
                </a:solidFill>
              </a:rPr>
              <a:t>Line Chart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5760720" y="3256270"/>
            <a:ext cx="3154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i="1" dirty="0">
                <a:solidFill>
                  <a:srgbClr val="6B7280"/>
                </a:solidFill>
              </a:rPr>
              <a:t>All traders overlay</a:t>
            </a:r>
            <a:endParaRPr lang="en-US" sz="550" dirty="0"/>
          </a:p>
        </p:txBody>
      </p:sp>
      <p:sp>
        <p:nvSpPr>
          <p:cNvPr id="163" name="Shape 161"/>
          <p:cNvSpPr/>
          <p:nvPr/>
        </p:nvSpPr>
        <p:spPr>
          <a:xfrm>
            <a:off x="5669280" y="3457438"/>
            <a:ext cx="3291840" cy="161291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4" name="Text 162"/>
          <p:cNvSpPr/>
          <p:nvPr/>
        </p:nvSpPr>
        <p:spPr>
          <a:xfrm>
            <a:off x="5760720" y="351230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</a:rPr>
              <a:t>Top Symbols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5742432" y="3704326"/>
            <a:ext cx="3145536" cy="1256294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Text 164"/>
          <p:cNvSpPr/>
          <p:nvPr/>
        </p:nvSpPr>
        <p:spPr>
          <a:xfrm>
            <a:off x="5742432" y="3704326"/>
            <a:ext cx="3145536" cy="1256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CA3AF"/>
                </a:solidFill>
              </a:rPr>
              <a:t>P&amp;L by Symbol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9CA3AF"/>
                </a:solidFill>
              </a:rPr>
              <a:t>Bar Chart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Trading Performance Dashboard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383280" y="64008"/>
            <a:ext cx="2651760" cy="246888"/>
          </a:xfrm>
          <a:prstGeom prst="rect">
            <a:avLst/>
          </a:prstGeom>
          <a:solidFill>
            <a:srgbClr val="2A4A72"/>
          </a:solidFill>
          <a:ln w="12700">
            <a:solidFill>
              <a:srgbClr val="3B6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Manual Traders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Algo Strategies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309360" y="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C7F0"/>
                </a:solidFill>
              </a:rPr>
              <a:t>Dashboard  |  Config  |  Disputes ●3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2880" y="4480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Dashboard  &gt;  John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0" y="612648"/>
            <a:ext cx="91440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82880" y="612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John  —  Manual Trader Detail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649224"/>
            <a:ext cx="100584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852160" y="6492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563EB"/>
                </a:solidFill>
              </a:rPr>
              <a:t>This Month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885432" y="649224"/>
            <a:ext cx="100584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85432" y="6492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</a:rPr>
              <a:t>All Symbols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918704" y="649224"/>
            <a:ext cx="100584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918704" y="6492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</a:rPr>
              <a:t>Export ↓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182880" y="905256"/>
            <a:ext cx="122268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82880" y="905256"/>
            <a:ext cx="36576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56032" y="932688"/>
            <a:ext cx="11129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Net P&amp;L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256032" y="1051560"/>
            <a:ext cx="1112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</a:rPr>
              <a:t>+$4,320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442139" y="905256"/>
            <a:ext cx="122268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442139" y="905256"/>
            <a:ext cx="36576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515291" y="932688"/>
            <a:ext cx="11129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Trades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1515291" y="1051560"/>
            <a:ext cx="1112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</a:rPr>
              <a:t>82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01399" y="905256"/>
            <a:ext cx="122268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701399" y="905256"/>
            <a:ext cx="36576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74551" y="932688"/>
            <a:ext cx="11129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Win Rate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2774551" y="1051560"/>
            <a:ext cx="1112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68%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60658" y="905256"/>
            <a:ext cx="122268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960658" y="905256"/>
            <a:ext cx="36576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033810" y="932688"/>
            <a:ext cx="11129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Profit Factor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4033810" y="1051560"/>
            <a:ext cx="1112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</a:rPr>
              <a:t>2.14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19918" y="905256"/>
            <a:ext cx="122268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219918" y="905256"/>
            <a:ext cx="36576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93070" y="932688"/>
            <a:ext cx="11129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Max DD</a:t>
            </a:r>
            <a:endParaRPr lang="en-US" sz="550" dirty="0"/>
          </a:p>
        </p:txBody>
      </p:sp>
      <p:sp>
        <p:nvSpPr>
          <p:cNvPr id="38" name="Text 36"/>
          <p:cNvSpPr/>
          <p:nvPr/>
        </p:nvSpPr>
        <p:spPr>
          <a:xfrm>
            <a:off x="5293070" y="1051560"/>
            <a:ext cx="1112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-$420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79177" y="905256"/>
            <a:ext cx="122268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479177" y="905256"/>
            <a:ext cx="3657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52329" y="932688"/>
            <a:ext cx="11129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Avg R:R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6552329" y="1051560"/>
            <a:ext cx="1112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1.8:1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738437" y="905256"/>
            <a:ext cx="1222683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738437" y="905256"/>
            <a:ext cx="36576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811589" y="932688"/>
            <a:ext cx="11129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Avg Duration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7811589" y="1051560"/>
            <a:ext cx="1112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280"/>
                </a:solidFill>
              </a:rPr>
              <a:t>4h 20m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82880" y="1335024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74320" y="13898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</a:rPr>
              <a:t>Equity Curve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6032" y="1572768"/>
            <a:ext cx="3099816" cy="1106424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56032" y="1572768"/>
            <a:ext cx="309981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CA3AF"/>
                </a:solidFill>
              </a:rPr>
              <a:t>Cumulative Net P&amp;L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9CA3AF"/>
                </a:solidFill>
              </a:rPr>
              <a:t>Line Chart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493008" y="1335024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584448" y="13898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</a:rPr>
              <a:t>Monthly P&amp;L Grid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575304" y="1591056"/>
            <a:ext cx="60579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575304" y="1600200"/>
            <a:ext cx="605790" cy="9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F2937"/>
                </a:solidFill>
              </a:rPr>
              <a:t>Jan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3575304" y="1683228"/>
            <a:ext cx="605790" cy="12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59669"/>
                </a:solidFill>
              </a:rPr>
              <a:t>+1,200</a:t>
            </a:r>
            <a:endParaRPr lang="en-US" sz="500" dirty="0"/>
          </a:p>
        </p:txBody>
      </p:sp>
      <p:sp>
        <p:nvSpPr>
          <p:cNvPr id="56" name="Shape 54"/>
          <p:cNvSpPr/>
          <p:nvPr/>
        </p:nvSpPr>
        <p:spPr>
          <a:xfrm>
            <a:off x="4208526" y="1591056"/>
            <a:ext cx="60579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208526" y="1600200"/>
            <a:ext cx="605790" cy="9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F2937"/>
                </a:solidFill>
              </a:rPr>
              <a:t>Feb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4208526" y="1683228"/>
            <a:ext cx="605790" cy="12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DC2626"/>
                </a:solidFill>
              </a:rPr>
              <a:t>-300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4841748" y="1591056"/>
            <a:ext cx="60579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841748" y="1600200"/>
            <a:ext cx="605790" cy="9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F2937"/>
                </a:solidFill>
              </a:rPr>
              <a:t>Mar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4841748" y="1683228"/>
            <a:ext cx="605790" cy="12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59669"/>
                </a:solidFill>
              </a:rPr>
              <a:t>+800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5474970" y="1591056"/>
            <a:ext cx="60579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5474970" y="1600200"/>
            <a:ext cx="605790" cy="9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F2937"/>
                </a:solidFill>
              </a:rPr>
              <a:t>Apr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5474970" y="1683228"/>
            <a:ext cx="605790" cy="12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59669"/>
                </a:solidFill>
              </a:rPr>
              <a:t>+1,500</a:t>
            </a:r>
            <a:endParaRPr lang="en-US" sz="500" dirty="0"/>
          </a:p>
        </p:txBody>
      </p:sp>
      <p:sp>
        <p:nvSpPr>
          <p:cNvPr id="65" name="Shape 63"/>
          <p:cNvSpPr/>
          <p:nvPr/>
        </p:nvSpPr>
        <p:spPr>
          <a:xfrm>
            <a:off x="3575304" y="1847088"/>
            <a:ext cx="60579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3575304" y="1856232"/>
            <a:ext cx="605790" cy="9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F2937"/>
                </a:solidFill>
              </a:rPr>
              <a:t>May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3575304" y="1939260"/>
            <a:ext cx="605790" cy="12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DC2626"/>
                </a:solidFill>
              </a:rPr>
              <a:t>-200</a:t>
            </a:r>
            <a:endParaRPr lang="en-US" sz="500" dirty="0"/>
          </a:p>
        </p:txBody>
      </p:sp>
      <p:sp>
        <p:nvSpPr>
          <p:cNvPr id="68" name="Shape 66"/>
          <p:cNvSpPr/>
          <p:nvPr/>
        </p:nvSpPr>
        <p:spPr>
          <a:xfrm>
            <a:off x="4208526" y="1847088"/>
            <a:ext cx="605790" cy="219456"/>
          </a:xfrm>
          <a:prstGeom prst="rect">
            <a:avLst/>
          </a:prstGeom>
          <a:solidFill>
            <a:srgbClr val="6EE7B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208526" y="1856232"/>
            <a:ext cx="605790" cy="9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F2937"/>
                </a:solidFill>
              </a:rPr>
              <a:t>Jun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4208526" y="1939260"/>
            <a:ext cx="605790" cy="12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59669"/>
                </a:solidFill>
              </a:rPr>
              <a:t>+2,100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4841748" y="1847088"/>
            <a:ext cx="605790" cy="219456"/>
          </a:xfrm>
          <a:prstGeom prst="rect">
            <a:avLst/>
          </a:prstGeom>
          <a:solidFill>
            <a:srgbClr val="D1FA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841748" y="1856232"/>
            <a:ext cx="605790" cy="9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F2937"/>
                </a:solidFill>
              </a:rPr>
              <a:t>Jul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4841748" y="1939260"/>
            <a:ext cx="605790" cy="12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59669"/>
                </a:solidFill>
              </a:rPr>
              <a:t>+900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5474970" y="1847088"/>
            <a:ext cx="605790" cy="219456"/>
          </a:xfrm>
          <a:prstGeom prst="rect">
            <a:avLst/>
          </a:prstGeom>
          <a:solidFill>
            <a:srgbClr val="FECAC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5474970" y="1856232"/>
            <a:ext cx="605790" cy="9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F2937"/>
                </a:solidFill>
              </a:rPr>
              <a:t>Aug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5474970" y="1939260"/>
            <a:ext cx="605790" cy="12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DC2626"/>
                </a:solidFill>
              </a:rPr>
              <a:t>-450</a:t>
            </a:r>
            <a:endParaRPr lang="en-US" sz="500" dirty="0"/>
          </a:p>
        </p:txBody>
      </p:sp>
      <p:sp>
        <p:nvSpPr>
          <p:cNvPr id="77" name="Shape 75"/>
          <p:cNvSpPr/>
          <p:nvPr/>
        </p:nvSpPr>
        <p:spPr>
          <a:xfrm>
            <a:off x="3575304" y="2103120"/>
            <a:ext cx="605790" cy="219456"/>
          </a:xfrm>
          <a:prstGeom prst="rect">
            <a:avLst/>
          </a:prstGeom>
          <a:solidFill>
            <a:srgbClr val="6EE7B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575304" y="2112264"/>
            <a:ext cx="605790" cy="9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F2937"/>
                </a:solidFill>
              </a:rPr>
              <a:t>Sep</a:t>
            </a:r>
            <a:endParaRPr lang="en-US" sz="500" dirty="0"/>
          </a:p>
        </p:txBody>
      </p:sp>
      <p:sp>
        <p:nvSpPr>
          <p:cNvPr id="79" name="Text 77"/>
          <p:cNvSpPr/>
          <p:nvPr/>
        </p:nvSpPr>
        <p:spPr>
          <a:xfrm>
            <a:off x="3575304" y="2195292"/>
            <a:ext cx="605790" cy="12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59669"/>
                </a:solidFill>
              </a:rPr>
              <a:t>+1,800</a:t>
            </a:r>
            <a:endParaRPr lang="en-US" sz="500" dirty="0"/>
          </a:p>
        </p:txBody>
      </p:sp>
      <p:sp>
        <p:nvSpPr>
          <p:cNvPr id="80" name="Shape 78"/>
          <p:cNvSpPr/>
          <p:nvPr/>
        </p:nvSpPr>
        <p:spPr>
          <a:xfrm>
            <a:off x="4208526" y="2103120"/>
            <a:ext cx="605790" cy="219456"/>
          </a:xfrm>
          <a:prstGeom prst="rect">
            <a:avLst/>
          </a:prstGeom>
          <a:solidFill>
            <a:srgbClr val="6EE7B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4208526" y="2112264"/>
            <a:ext cx="605790" cy="9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F2937"/>
                </a:solidFill>
              </a:rPr>
              <a:t>Oct</a:t>
            </a:r>
            <a:endParaRPr lang="en-US" sz="500" dirty="0"/>
          </a:p>
        </p:txBody>
      </p:sp>
      <p:sp>
        <p:nvSpPr>
          <p:cNvPr id="82" name="Text 80"/>
          <p:cNvSpPr/>
          <p:nvPr/>
        </p:nvSpPr>
        <p:spPr>
          <a:xfrm>
            <a:off x="4208526" y="2195292"/>
            <a:ext cx="605790" cy="12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59669"/>
                </a:solidFill>
              </a:rPr>
              <a:t>+3,200</a:t>
            </a:r>
            <a:endParaRPr lang="en-US" sz="500" dirty="0"/>
          </a:p>
        </p:txBody>
      </p:sp>
      <p:sp>
        <p:nvSpPr>
          <p:cNvPr id="83" name="Shape 81"/>
          <p:cNvSpPr/>
          <p:nvPr/>
        </p:nvSpPr>
        <p:spPr>
          <a:xfrm>
            <a:off x="4841748" y="2103120"/>
            <a:ext cx="605790" cy="219456"/>
          </a:xfrm>
          <a:prstGeom prst="rect">
            <a:avLst/>
          </a:prstGeom>
          <a:solidFill>
            <a:srgbClr val="FECAC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4841748" y="2112264"/>
            <a:ext cx="605790" cy="9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F2937"/>
                </a:solidFill>
              </a:rPr>
              <a:t>Nov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4841748" y="2195292"/>
            <a:ext cx="605790" cy="12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DC2626"/>
                </a:solidFill>
              </a:rPr>
              <a:t>-600</a:t>
            </a:r>
            <a:endParaRPr lang="en-US" sz="500" dirty="0"/>
          </a:p>
        </p:txBody>
      </p:sp>
      <p:sp>
        <p:nvSpPr>
          <p:cNvPr id="86" name="Shape 84"/>
          <p:cNvSpPr/>
          <p:nvPr/>
        </p:nvSpPr>
        <p:spPr>
          <a:xfrm>
            <a:off x="5474970" y="2103120"/>
            <a:ext cx="605790" cy="219456"/>
          </a:xfrm>
          <a:prstGeom prst="rect">
            <a:avLst/>
          </a:prstGeom>
          <a:solidFill>
            <a:srgbClr val="6EE7B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5474970" y="2112264"/>
            <a:ext cx="605790" cy="9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1F2937"/>
                </a:solidFill>
              </a:rPr>
              <a:t>Dec</a:t>
            </a:r>
            <a:endParaRPr lang="en-US" sz="500" dirty="0"/>
          </a:p>
        </p:txBody>
      </p:sp>
      <p:sp>
        <p:nvSpPr>
          <p:cNvPr id="88" name="Text 86"/>
          <p:cNvSpPr/>
          <p:nvPr/>
        </p:nvSpPr>
        <p:spPr>
          <a:xfrm>
            <a:off x="5474970" y="2195292"/>
            <a:ext cx="605790" cy="12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059669"/>
                </a:solidFill>
              </a:rPr>
              <a:t>+4,320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6254496" y="1335024"/>
            <a:ext cx="27066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6345936" y="13898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</a:rPr>
              <a:t>Daily P&amp;L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6327648" y="1572768"/>
            <a:ext cx="2560320" cy="1106424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6327648" y="1572768"/>
            <a:ext cx="25603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CA3AF"/>
                </a:solidFill>
              </a:rPr>
              <a:t>Daily P&amp;L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9CA3AF"/>
                </a:solidFill>
              </a:rPr>
              <a:t>Bar Chart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182880" y="2816352"/>
            <a:ext cx="8778240" cy="22722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292608" y="28529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</a:rPr>
              <a:t>Trade List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1737360" y="28529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Filter: Symbol ▾   Direction ▾   Outcome ▾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256032" y="3035808"/>
            <a:ext cx="56692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292608" y="30358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Ticket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822960" y="3035808"/>
            <a:ext cx="9601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859536" y="3035808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Open Time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1783080" y="3035808"/>
            <a:ext cx="9601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1819656" y="3035808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Close Time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743200" y="3035808"/>
            <a:ext cx="65836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2779776" y="303580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Symbol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3401568" y="3035808"/>
            <a:ext cx="411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3438144" y="303580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Type</a:t>
            </a:r>
            <a:endParaRPr lang="en-US" sz="600" dirty="0"/>
          </a:p>
        </p:txBody>
      </p:sp>
      <p:sp>
        <p:nvSpPr>
          <p:cNvPr id="106" name="Shape 104"/>
          <p:cNvSpPr/>
          <p:nvPr/>
        </p:nvSpPr>
        <p:spPr>
          <a:xfrm>
            <a:off x="3813048" y="3035808"/>
            <a:ext cx="38404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3849624" y="303580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Lot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4197096" y="3035808"/>
            <a:ext cx="100584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4233672" y="303580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Comment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5202936" y="3035808"/>
            <a:ext cx="65836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5239512" y="303580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Net P&amp;L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5861304" y="3035808"/>
            <a:ext cx="4114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5897880" y="303580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R:R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6272784" y="3035808"/>
            <a:ext cx="585216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6309360" y="303580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Duration</a:t>
            </a:r>
            <a:endParaRPr lang="en-US" sz="600" dirty="0"/>
          </a:p>
        </p:txBody>
      </p:sp>
      <p:sp>
        <p:nvSpPr>
          <p:cNvPr id="116" name="Shape 114"/>
          <p:cNvSpPr/>
          <p:nvPr/>
        </p:nvSpPr>
        <p:spPr>
          <a:xfrm>
            <a:off x="256032" y="3236976"/>
            <a:ext cx="56692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292608" y="323697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#10012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822960" y="3236976"/>
            <a:ext cx="960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859536" y="323697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01 Apr 08:12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1783080" y="3236976"/>
            <a:ext cx="960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1819656" y="323697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01 Apr 14:35</a:t>
            </a:r>
            <a:endParaRPr lang="en-US" sz="600" dirty="0"/>
          </a:p>
        </p:txBody>
      </p:sp>
      <p:sp>
        <p:nvSpPr>
          <p:cNvPr id="122" name="Shape 120"/>
          <p:cNvSpPr/>
          <p:nvPr/>
        </p:nvSpPr>
        <p:spPr>
          <a:xfrm>
            <a:off x="2743200" y="3236976"/>
            <a:ext cx="65836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2779776" y="323697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XAUUSD</a:t>
            </a:r>
            <a:endParaRPr lang="en-US" sz="600" dirty="0"/>
          </a:p>
        </p:txBody>
      </p:sp>
      <p:sp>
        <p:nvSpPr>
          <p:cNvPr id="124" name="Shape 122"/>
          <p:cNvSpPr/>
          <p:nvPr/>
        </p:nvSpPr>
        <p:spPr>
          <a:xfrm>
            <a:off x="3401568" y="3236976"/>
            <a:ext cx="4114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3438144" y="3236976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Buy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3813048" y="3236976"/>
            <a:ext cx="38404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849624" y="323697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0.10</a:t>
            </a:r>
            <a:endParaRPr lang="en-US" sz="600" dirty="0"/>
          </a:p>
        </p:txBody>
      </p:sp>
      <p:sp>
        <p:nvSpPr>
          <p:cNvPr id="128" name="Shape 126"/>
          <p:cNvSpPr/>
          <p:nvPr/>
        </p:nvSpPr>
        <p:spPr>
          <a:xfrm>
            <a:off x="4197096" y="3236976"/>
            <a:ext cx="1005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4233672" y="323697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JOHN_XAUUSD</a:t>
            </a:r>
            <a:endParaRPr lang="en-US" sz="600" dirty="0"/>
          </a:p>
        </p:txBody>
      </p:sp>
      <p:sp>
        <p:nvSpPr>
          <p:cNvPr id="130" name="Shape 128"/>
          <p:cNvSpPr/>
          <p:nvPr/>
        </p:nvSpPr>
        <p:spPr>
          <a:xfrm>
            <a:off x="5202936" y="3236976"/>
            <a:ext cx="65836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5239512" y="323697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+$210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5861304" y="3236976"/>
            <a:ext cx="4114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5897880" y="3236976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F2937"/>
                </a:solidFill>
              </a:rPr>
              <a:t>2.1</a:t>
            </a:r>
            <a:endParaRPr lang="en-US" sz="600" dirty="0"/>
          </a:p>
        </p:txBody>
      </p:sp>
      <p:sp>
        <p:nvSpPr>
          <p:cNvPr id="134" name="Shape 132"/>
          <p:cNvSpPr/>
          <p:nvPr/>
        </p:nvSpPr>
        <p:spPr>
          <a:xfrm>
            <a:off x="6272784" y="3236976"/>
            <a:ext cx="58521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6309360" y="323697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F2937"/>
                </a:solidFill>
              </a:rPr>
              <a:t>6h 23m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256032" y="3419856"/>
            <a:ext cx="56692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ext 135"/>
          <p:cNvSpPr/>
          <p:nvPr/>
        </p:nvSpPr>
        <p:spPr>
          <a:xfrm>
            <a:off x="292608" y="341985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#10015</a:t>
            </a:r>
            <a:endParaRPr lang="en-US" sz="600" dirty="0"/>
          </a:p>
        </p:txBody>
      </p:sp>
      <p:sp>
        <p:nvSpPr>
          <p:cNvPr id="138" name="Shape 136"/>
          <p:cNvSpPr/>
          <p:nvPr/>
        </p:nvSpPr>
        <p:spPr>
          <a:xfrm>
            <a:off x="822960" y="3419856"/>
            <a:ext cx="9601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Text 137"/>
          <p:cNvSpPr/>
          <p:nvPr/>
        </p:nvSpPr>
        <p:spPr>
          <a:xfrm>
            <a:off x="859536" y="341985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02 Apr 10:05</a:t>
            </a:r>
            <a:endParaRPr lang="en-US" sz="600" dirty="0"/>
          </a:p>
        </p:txBody>
      </p:sp>
      <p:sp>
        <p:nvSpPr>
          <p:cNvPr id="140" name="Shape 138"/>
          <p:cNvSpPr/>
          <p:nvPr/>
        </p:nvSpPr>
        <p:spPr>
          <a:xfrm>
            <a:off x="1783080" y="3419856"/>
            <a:ext cx="9601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Text 139"/>
          <p:cNvSpPr/>
          <p:nvPr/>
        </p:nvSpPr>
        <p:spPr>
          <a:xfrm>
            <a:off x="1819656" y="341985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02 Apr 12:48</a:t>
            </a:r>
            <a:endParaRPr lang="en-US" sz="600" dirty="0"/>
          </a:p>
        </p:txBody>
      </p:sp>
      <p:sp>
        <p:nvSpPr>
          <p:cNvPr id="142" name="Shape 140"/>
          <p:cNvSpPr/>
          <p:nvPr/>
        </p:nvSpPr>
        <p:spPr>
          <a:xfrm>
            <a:off x="2743200" y="3419856"/>
            <a:ext cx="65836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Text 141"/>
          <p:cNvSpPr/>
          <p:nvPr/>
        </p:nvSpPr>
        <p:spPr>
          <a:xfrm>
            <a:off x="2779776" y="34198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EURUSD</a:t>
            </a:r>
            <a:endParaRPr lang="en-US" sz="600" dirty="0"/>
          </a:p>
        </p:txBody>
      </p:sp>
      <p:sp>
        <p:nvSpPr>
          <p:cNvPr id="144" name="Shape 142"/>
          <p:cNvSpPr/>
          <p:nvPr/>
        </p:nvSpPr>
        <p:spPr>
          <a:xfrm>
            <a:off x="3401568" y="3419856"/>
            <a:ext cx="41148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Text 143"/>
          <p:cNvSpPr/>
          <p:nvPr/>
        </p:nvSpPr>
        <p:spPr>
          <a:xfrm>
            <a:off x="3438144" y="3419856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Sell</a:t>
            </a:r>
            <a:endParaRPr lang="en-US" sz="600" dirty="0"/>
          </a:p>
        </p:txBody>
      </p:sp>
      <p:sp>
        <p:nvSpPr>
          <p:cNvPr id="146" name="Shape 144"/>
          <p:cNvSpPr/>
          <p:nvPr/>
        </p:nvSpPr>
        <p:spPr>
          <a:xfrm>
            <a:off x="3813048" y="3419856"/>
            <a:ext cx="38404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3849624" y="341985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0.10</a:t>
            </a:r>
            <a:endParaRPr lang="en-US" sz="600" dirty="0"/>
          </a:p>
        </p:txBody>
      </p:sp>
      <p:sp>
        <p:nvSpPr>
          <p:cNvPr id="148" name="Shape 146"/>
          <p:cNvSpPr/>
          <p:nvPr/>
        </p:nvSpPr>
        <p:spPr>
          <a:xfrm>
            <a:off x="4197096" y="3419856"/>
            <a:ext cx="10058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4233672" y="341985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JOHN_EURUSD</a:t>
            </a:r>
            <a:endParaRPr lang="en-US" sz="600" dirty="0"/>
          </a:p>
        </p:txBody>
      </p:sp>
      <p:sp>
        <p:nvSpPr>
          <p:cNvPr id="150" name="Shape 148"/>
          <p:cNvSpPr/>
          <p:nvPr/>
        </p:nvSpPr>
        <p:spPr>
          <a:xfrm>
            <a:off x="5202936" y="3419856"/>
            <a:ext cx="65836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5239512" y="34198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DC2626"/>
                </a:solidFill>
              </a:rPr>
              <a:t>-$85</a:t>
            </a:r>
            <a:endParaRPr lang="en-US" sz="600" dirty="0"/>
          </a:p>
        </p:txBody>
      </p:sp>
      <p:sp>
        <p:nvSpPr>
          <p:cNvPr id="152" name="Shape 150"/>
          <p:cNvSpPr/>
          <p:nvPr/>
        </p:nvSpPr>
        <p:spPr>
          <a:xfrm>
            <a:off x="5861304" y="3419856"/>
            <a:ext cx="41148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5897880" y="3419856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F2937"/>
                </a:solidFill>
              </a:rPr>
              <a:t>0.9</a:t>
            </a:r>
            <a:endParaRPr lang="en-US" sz="600" dirty="0"/>
          </a:p>
        </p:txBody>
      </p:sp>
      <p:sp>
        <p:nvSpPr>
          <p:cNvPr id="154" name="Shape 152"/>
          <p:cNvSpPr/>
          <p:nvPr/>
        </p:nvSpPr>
        <p:spPr>
          <a:xfrm>
            <a:off x="6272784" y="3419856"/>
            <a:ext cx="585216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6309360" y="34198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F2937"/>
                </a:solidFill>
              </a:rPr>
              <a:t>2h 43m</a:t>
            </a:r>
            <a:endParaRPr lang="en-US" sz="600" dirty="0"/>
          </a:p>
        </p:txBody>
      </p:sp>
      <p:sp>
        <p:nvSpPr>
          <p:cNvPr id="156" name="Shape 154"/>
          <p:cNvSpPr/>
          <p:nvPr/>
        </p:nvSpPr>
        <p:spPr>
          <a:xfrm>
            <a:off x="256032" y="3602736"/>
            <a:ext cx="56692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292608" y="360273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#10021</a:t>
            </a:r>
            <a:endParaRPr lang="en-US" sz="600" dirty="0"/>
          </a:p>
        </p:txBody>
      </p:sp>
      <p:sp>
        <p:nvSpPr>
          <p:cNvPr id="158" name="Shape 156"/>
          <p:cNvSpPr/>
          <p:nvPr/>
        </p:nvSpPr>
        <p:spPr>
          <a:xfrm>
            <a:off x="822960" y="3602736"/>
            <a:ext cx="960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9" name="Text 157"/>
          <p:cNvSpPr/>
          <p:nvPr/>
        </p:nvSpPr>
        <p:spPr>
          <a:xfrm>
            <a:off x="859536" y="360273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03 Apr 09:30</a:t>
            </a:r>
            <a:endParaRPr lang="en-US" sz="600" dirty="0"/>
          </a:p>
        </p:txBody>
      </p:sp>
      <p:sp>
        <p:nvSpPr>
          <p:cNvPr id="160" name="Shape 158"/>
          <p:cNvSpPr/>
          <p:nvPr/>
        </p:nvSpPr>
        <p:spPr>
          <a:xfrm>
            <a:off x="1783080" y="3602736"/>
            <a:ext cx="960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Text 159"/>
          <p:cNvSpPr/>
          <p:nvPr/>
        </p:nvSpPr>
        <p:spPr>
          <a:xfrm>
            <a:off x="1819656" y="360273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03 Apr 15:10</a:t>
            </a:r>
            <a:endParaRPr lang="en-US" sz="600" dirty="0"/>
          </a:p>
        </p:txBody>
      </p:sp>
      <p:sp>
        <p:nvSpPr>
          <p:cNvPr id="162" name="Shape 160"/>
          <p:cNvSpPr/>
          <p:nvPr/>
        </p:nvSpPr>
        <p:spPr>
          <a:xfrm>
            <a:off x="2743200" y="3602736"/>
            <a:ext cx="65836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Text 161"/>
          <p:cNvSpPr/>
          <p:nvPr/>
        </p:nvSpPr>
        <p:spPr>
          <a:xfrm>
            <a:off x="2779776" y="360273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XAUUSD</a:t>
            </a:r>
            <a:endParaRPr lang="en-US" sz="600" dirty="0"/>
          </a:p>
        </p:txBody>
      </p:sp>
      <p:sp>
        <p:nvSpPr>
          <p:cNvPr id="164" name="Shape 162"/>
          <p:cNvSpPr/>
          <p:nvPr/>
        </p:nvSpPr>
        <p:spPr>
          <a:xfrm>
            <a:off x="3401568" y="3602736"/>
            <a:ext cx="4114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5" name="Text 163"/>
          <p:cNvSpPr/>
          <p:nvPr/>
        </p:nvSpPr>
        <p:spPr>
          <a:xfrm>
            <a:off x="3438144" y="3602736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Buy</a:t>
            </a:r>
            <a:endParaRPr lang="en-US" sz="600" dirty="0"/>
          </a:p>
        </p:txBody>
      </p:sp>
      <p:sp>
        <p:nvSpPr>
          <p:cNvPr id="166" name="Shape 164"/>
          <p:cNvSpPr/>
          <p:nvPr/>
        </p:nvSpPr>
        <p:spPr>
          <a:xfrm>
            <a:off x="3813048" y="3602736"/>
            <a:ext cx="38404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7" name="Text 165"/>
          <p:cNvSpPr/>
          <p:nvPr/>
        </p:nvSpPr>
        <p:spPr>
          <a:xfrm>
            <a:off x="3849624" y="3602736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0.10</a:t>
            </a:r>
            <a:endParaRPr lang="en-US" sz="600" dirty="0"/>
          </a:p>
        </p:txBody>
      </p:sp>
      <p:sp>
        <p:nvSpPr>
          <p:cNvPr id="168" name="Shape 166"/>
          <p:cNvSpPr/>
          <p:nvPr/>
        </p:nvSpPr>
        <p:spPr>
          <a:xfrm>
            <a:off x="4197096" y="3602736"/>
            <a:ext cx="1005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9" name="Text 167"/>
          <p:cNvSpPr/>
          <p:nvPr/>
        </p:nvSpPr>
        <p:spPr>
          <a:xfrm>
            <a:off x="4233672" y="360273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JOHN_XAUUSD</a:t>
            </a:r>
            <a:endParaRPr lang="en-US" sz="600" dirty="0"/>
          </a:p>
        </p:txBody>
      </p:sp>
      <p:sp>
        <p:nvSpPr>
          <p:cNvPr id="170" name="Shape 168"/>
          <p:cNvSpPr/>
          <p:nvPr/>
        </p:nvSpPr>
        <p:spPr>
          <a:xfrm>
            <a:off x="5202936" y="3602736"/>
            <a:ext cx="65836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Text 169"/>
          <p:cNvSpPr/>
          <p:nvPr/>
        </p:nvSpPr>
        <p:spPr>
          <a:xfrm>
            <a:off x="5239512" y="360273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+$320</a:t>
            </a:r>
            <a:endParaRPr lang="en-US" sz="600" dirty="0"/>
          </a:p>
        </p:txBody>
      </p:sp>
      <p:sp>
        <p:nvSpPr>
          <p:cNvPr id="172" name="Shape 170"/>
          <p:cNvSpPr/>
          <p:nvPr/>
        </p:nvSpPr>
        <p:spPr>
          <a:xfrm>
            <a:off x="5861304" y="3602736"/>
            <a:ext cx="4114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3" name="Text 171"/>
          <p:cNvSpPr/>
          <p:nvPr/>
        </p:nvSpPr>
        <p:spPr>
          <a:xfrm>
            <a:off x="5897880" y="3602736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F2937"/>
                </a:solidFill>
              </a:rPr>
              <a:t>2.8</a:t>
            </a:r>
            <a:endParaRPr lang="en-US" sz="600" dirty="0"/>
          </a:p>
        </p:txBody>
      </p:sp>
      <p:sp>
        <p:nvSpPr>
          <p:cNvPr id="174" name="Shape 172"/>
          <p:cNvSpPr/>
          <p:nvPr/>
        </p:nvSpPr>
        <p:spPr>
          <a:xfrm>
            <a:off x="6272784" y="3602736"/>
            <a:ext cx="585216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5" name="Text 173"/>
          <p:cNvSpPr/>
          <p:nvPr/>
        </p:nvSpPr>
        <p:spPr>
          <a:xfrm>
            <a:off x="6309360" y="360273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1F2937"/>
                </a:solidFill>
              </a:rPr>
              <a:t>5h 40m</a:t>
            </a:r>
            <a:endParaRPr lang="en-US" sz="600" dirty="0"/>
          </a:p>
        </p:txBody>
      </p:sp>
      <p:sp>
        <p:nvSpPr>
          <p:cNvPr id="176" name="Text 174"/>
          <p:cNvSpPr/>
          <p:nvPr/>
        </p:nvSpPr>
        <p:spPr>
          <a:xfrm>
            <a:off x="256032" y="381304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D97706"/>
                </a:solidFill>
              </a:rPr>
              <a:t>Risk Assessment available when SL/TP present  →  R:R ratio, expected value per trade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Trading Performance Dashboard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383280" y="64008"/>
            <a:ext cx="2651760" cy="246888"/>
          </a:xfrm>
          <a:prstGeom prst="rect">
            <a:avLst/>
          </a:prstGeom>
          <a:solidFill>
            <a:srgbClr val="2A4A72"/>
          </a:solidFill>
          <a:ln w="12700">
            <a:solidFill>
              <a:srgbClr val="3B6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Manual Traders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Algo Strategies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309360" y="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C7F0"/>
                </a:solidFill>
              </a:rPr>
              <a:t>Dashboard  |  Config  |  Disputes ●3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2880" y="4480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P&amp;L by Symbol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484632"/>
            <a:ext cx="100584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0" y="4846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563EB"/>
                </a:solidFill>
              </a:rPr>
              <a:t>This Month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6062472" y="484632"/>
            <a:ext cx="100584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62472" y="4846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</a:rPr>
              <a:t>All Accounts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7095744" y="484632"/>
            <a:ext cx="100584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095744" y="4846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</a:rPr>
              <a:t>All Traders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82880" y="740664"/>
            <a:ext cx="5120640" cy="43296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92608" y="80467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</a:rPr>
              <a:t>Net P&amp;L by Symbol — Horizontal Bar Chart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2608" y="10515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</a:rPr>
              <a:t>XAUUSD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96112" y="1088136"/>
            <a:ext cx="279806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96112" y="1051560"/>
            <a:ext cx="0" cy="27432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739896" y="1051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59669"/>
                </a:solidFill>
              </a:rPr>
              <a:t>+$6,800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92608" y="14356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</a:rPr>
              <a:t>EURUSD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96112" y="1472184"/>
            <a:ext cx="994867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96112" y="1435608"/>
            <a:ext cx="0" cy="27432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936699" y="14356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59669"/>
                </a:solidFill>
              </a:rPr>
              <a:t>+$2,400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92608" y="18196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</a:rPr>
              <a:t>GBPUSD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96112" y="1856232"/>
            <a:ext cx="77724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96112" y="1819656"/>
            <a:ext cx="0" cy="27432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719072" y="18196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59669"/>
                </a:solidFill>
              </a:rPr>
              <a:t>+$1,900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92608" y="22037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</a:rPr>
              <a:t>USDJPY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96112" y="2240280"/>
            <a:ext cx="49743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96112" y="2203704"/>
            <a:ext cx="0" cy="27432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439266" y="22037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59669"/>
                </a:solidFill>
              </a:rPr>
              <a:t>+$1,200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92608" y="25877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</a:rPr>
              <a:t>GBPJPY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78485" y="2624328"/>
            <a:ext cx="217627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96112" y="2587752"/>
            <a:ext cx="0" cy="27432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-7315" y="25877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C2626"/>
                </a:solidFill>
              </a:rPr>
              <a:t>-$500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292608" y="2971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</a:rPr>
              <a:t>USDCAD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54126" y="3008376"/>
            <a:ext cx="341986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96112" y="2971800"/>
            <a:ext cx="0" cy="27432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-131674" y="297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C2626"/>
                </a:solidFill>
              </a:rPr>
              <a:t>-$800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394960" y="740664"/>
            <a:ext cx="3566160" cy="43296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486400" y="80467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</a:rPr>
              <a:t>Symbol Breakdown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68112" y="1014984"/>
            <a:ext cx="713232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504688" y="10149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Symbol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6181344" y="1014984"/>
            <a:ext cx="65836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217920" y="101498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Net P&amp;L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6839712" y="1014984"/>
            <a:ext cx="47548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876288" y="10149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Trades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7315200" y="1014984"/>
            <a:ext cx="438912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351776" y="10149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Win%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5468112" y="1216152"/>
            <a:ext cx="7132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504688" y="12161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XAUUSD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6181344" y="1216152"/>
            <a:ext cx="65836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217920" y="121615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+$6,800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6839712" y="1216152"/>
            <a:ext cx="47548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876288" y="12161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124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7315200" y="1216152"/>
            <a:ext cx="43891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351776" y="12161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71%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5468112" y="1399032"/>
            <a:ext cx="71323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504688" y="1399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EURUSD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6181344" y="1399032"/>
            <a:ext cx="65836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217920" y="139903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+$2,400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6839712" y="1399032"/>
            <a:ext cx="47548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876288" y="13990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62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7315200" y="1399032"/>
            <a:ext cx="43891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351776" y="1399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60%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5468112" y="1581912"/>
            <a:ext cx="7132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504688" y="15819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GBPUSD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6181344" y="1581912"/>
            <a:ext cx="65836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6217920" y="158191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+$1,900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6839712" y="1581912"/>
            <a:ext cx="47548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876288" y="158191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35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7315200" y="1581912"/>
            <a:ext cx="43891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7351776" y="15819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57%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5468112" y="1764792"/>
            <a:ext cx="71323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5504688" y="17647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USDJPY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6181344" y="1764792"/>
            <a:ext cx="65836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6217920" y="176479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+$1,200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6839712" y="1764792"/>
            <a:ext cx="47548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876288" y="176479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18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7315200" y="1764792"/>
            <a:ext cx="43891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7351776" y="1764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56%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5468112" y="1947672"/>
            <a:ext cx="71323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5504688" y="1947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GBPJPY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6181344" y="1947672"/>
            <a:ext cx="65836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6217920" y="19476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DC2626"/>
                </a:solidFill>
              </a:rPr>
              <a:t>-$500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6839712" y="1947672"/>
            <a:ext cx="47548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6876288" y="194767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6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7315200" y="1947672"/>
            <a:ext cx="43891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7351776" y="1947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33%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5468112" y="2130552"/>
            <a:ext cx="71323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5504688" y="21305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USDCAD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6181344" y="2130552"/>
            <a:ext cx="65836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6217920" y="213055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DC2626"/>
                </a:solidFill>
              </a:rPr>
              <a:t>-$800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6839712" y="2130552"/>
            <a:ext cx="47548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6876288" y="21305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3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7315200" y="2130552"/>
            <a:ext cx="43891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7351776" y="21305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33%</a:t>
            </a:r>
            <a:endParaRPr lang="en-US" sz="600" dirty="0"/>
          </a:p>
        </p:txBody>
      </p:sp>
      <p:sp>
        <p:nvSpPr>
          <p:cNvPr id="101" name="Text 99"/>
          <p:cNvSpPr/>
          <p:nvPr/>
        </p:nvSpPr>
        <p:spPr>
          <a:xfrm>
            <a:off x="5468112" y="4978908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2563EB"/>
                </a:solidFill>
              </a:rPr>
              <a:t>Click symbol to see per-trader breakdown ↗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Trading Performance Dashboard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383280" y="64008"/>
            <a:ext cx="2651760" cy="246888"/>
          </a:xfrm>
          <a:prstGeom prst="rect">
            <a:avLst/>
          </a:prstGeom>
          <a:solidFill>
            <a:srgbClr val="2A4A72"/>
          </a:solidFill>
          <a:ln w="12700">
            <a:solidFill>
              <a:srgbClr val="3B6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Manual Traders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Algo Strategies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309360" y="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C7F0"/>
                </a:solidFill>
              </a:rPr>
              <a:t>Dashboard  |  Config  |  Disputes ●3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2880" y="448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Comparison 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694944"/>
            <a:ext cx="100584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82880" y="6949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</a:rPr>
              <a:t>John ×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234440" y="694944"/>
            <a:ext cx="1005840" cy="20116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34440" y="6949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C3AED"/>
                </a:solidFill>
              </a:rPr>
              <a:t>Sarah ×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86000" y="694944"/>
            <a:ext cx="100584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286000" y="6949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</a:rPr>
              <a:t>Mike ×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337560" y="694944"/>
            <a:ext cx="100584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37560" y="6949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B7280"/>
                </a:solidFill>
              </a:rPr>
              <a:t>+ Add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858000" y="722376"/>
            <a:ext cx="100584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0" y="7223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2563EB"/>
                </a:solidFill>
              </a:rPr>
              <a:t>This Month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7891272" y="722376"/>
            <a:ext cx="100584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891272" y="7223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</a:rPr>
              <a:t>All Symbols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82880" y="950976"/>
            <a:ext cx="8778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92608" y="101498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</a:rPr>
              <a:t>Equity Curve Overlay — All Selected Traders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1069848"/>
            <a:ext cx="228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656832" y="10149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563EB"/>
                </a:solidFill>
              </a:rPr>
              <a:t>John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7223760" y="1069848"/>
            <a:ext cx="2286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479792" y="10149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C3AED"/>
                </a:solidFill>
              </a:rPr>
              <a:t>Sarah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8046720" y="1069848"/>
            <a:ext cx="22860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302752" y="10149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59669"/>
                </a:solidFill>
              </a:rPr>
              <a:t>Mike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74320" y="1225296"/>
            <a:ext cx="8595360" cy="1700784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1225296"/>
            <a:ext cx="85953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</a:rPr>
              <a:t>Multi-entity overlaid equity curve chart — same P&amp;L axis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82880" y="3127248"/>
            <a:ext cx="8778240" cy="19613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2608" y="31729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</a:rPr>
              <a:t>KPI Comparison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355848"/>
            <a:ext cx="14173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10896" y="335584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Metric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1691640" y="3355848"/>
            <a:ext cx="214884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728216" y="3355848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John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3840480" y="3355848"/>
            <a:ext cx="214884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877056" y="3355848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Sarah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989320" y="3355848"/>
            <a:ext cx="214884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025896" y="3355848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Mike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274320" y="3557016"/>
            <a:ext cx="14173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10896" y="3557016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Net P&amp;L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1691640" y="3557016"/>
            <a:ext cx="2148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1728216" y="355701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+$4,320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3840480" y="3557016"/>
            <a:ext cx="2148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877056" y="355701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+$3,150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5989320" y="3557016"/>
            <a:ext cx="2148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025896" y="355701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+$2,890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274320" y="3739896"/>
            <a:ext cx="14173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10896" y="3739896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Win Rate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691640" y="3739896"/>
            <a:ext cx="21488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1728216" y="373989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68%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3840480" y="3739896"/>
            <a:ext cx="21488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877056" y="373989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61%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5989320" y="3739896"/>
            <a:ext cx="21488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025896" y="373989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59%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274320" y="3922776"/>
            <a:ext cx="14173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10896" y="3922776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Profit Factor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1691640" y="3922776"/>
            <a:ext cx="2148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1728216" y="392277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2.14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3840480" y="3922776"/>
            <a:ext cx="2148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877056" y="392277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1.87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5989320" y="3922776"/>
            <a:ext cx="2148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025896" y="392277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1.72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274320" y="4105656"/>
            <a:ext cx="14173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310896" y="4105656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Max DD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1691640" y="4105656"/>
            <a:ext cx="21488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1728216" y="410565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C2626"/>
                </a:solidFill>
              </a:rPr>
              <a:t>-$420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3840480" y="4105656"/>
            <a:ext cx="21488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877056" y="410565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C2626"/>
                </a:solidFill>
              </a:rPr>
              <a:t>-$310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5989320" y="4105656"/>
            <a:ext cx="21488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025896" y="410565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C2626"/>
                </a:solidFill>
              </a:rPr>
              <a:t>-$560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Screen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383280" y="64008"/>
            <a:ext cx="2651760" cy="246888"/>
          </a:xfrm>
          <a:prstGeom prst="rect">
            <a:avLst/>
          </a:prstGeom>
          <a:solidFill>
            <a:srgbClr val="2A4A72"/>
          </a:solidFill>
          <a:ln w="12700">
            <a:solidFill>
              <a:srgbClr val="3B6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Manual Traders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Algo Strategies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309360" y="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C7F0"/>
                </a:solidFill>
              </a:rPr>
              <a:t>Dashboard  |  Config  |  Disputes ●3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82880" y="448056"/>
            <a:ext cx="18288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2880" y="448056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</a:rPr>
              <a:t>Manual Trader Rules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57400" y="448056"/>
            <a:ext cx="1828800" cy="265176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57400" y="448056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Algo Strategy Rules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2880" y="7589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Manual Trader Rule Configuration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758952"/>
            <a:ext cx="178308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086600" y="7589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+ Add Trader Rule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82880" y="101498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D97706"/>
                </a:solidFill>
              </a:rPr>
              <a:t>! Saving any rule immediately re-runs attribution on all loaded trade data.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28600" y="1207008"/>
            <a:ext cx="105156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65176" y="1207008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Trader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1280160" y="1207008"/>
            <a:ext cx="100584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316736" y="120700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Account(s)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286000" y="1207008"/>
            <a:ext cx="68580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322576" y="120700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Lot Size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971800" y="1207008"/>
            <a:ext cx="13258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008376" y="1207008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Comment Pattern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4297680" y="1207008"/>
            <a:ext cx="530352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334256" y="12070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Priority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828032" y="1207008"/>
            <a:ext cx="59436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64608" y="120700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Status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422392" y="1207008"/>
            <a:ext cx="79552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58968" y="1207008"/>
            <a:ext cx="722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Actions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28600" y="1408176"/>
            <a:ext cx="10515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65176" y="1408176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John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1280160" y="1408176"/>
            <a:ext cx="1005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316736" y="140817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#12345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2286000" y="1408176"/>
            <a:ext cx="6858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322576" y="1408176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0.10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971800" y="1408176"/>
            <a:ext cx="1325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008376" y="1408176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563EB"/>
                </a:solidFill>
              </a:rPr>
              <a:t>JOHN_*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4297680" y="1408176"/>
            <a:ext cx="5303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334256" y="14081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828032" y="1408176"/>
            <a:ext cx="5943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64608" y="1408176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Active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5422392" y="1408176"/>
            <a:ext cx="79552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458968" y="1408176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</a:rPr>
              <a:t>Edit  Del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228600" y="1609344"/>
            <a:ext cx="105156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65176" y="1609344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Sarah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280160" y="1609344"/>
            <a:ext cx="10058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316736" y="160934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#12345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286000" y="1609344"/>
            <a:ext cx="68580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322576" y="1609344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0.05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2971800" y="1609344"/>
            <a:ext cx="132588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008376" y="1609344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563EB"/>
                </a:solidFill>
              </a:rPr>
              <a:t>SARAH_*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4297680" y="1609344"/>
            <a:ext cx="53035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334256" y="16093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2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4828032" y="1609344"/>
            <a:ext cx="59436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864608" y="1609344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Active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5422392" y="1609344"/>
            <a:ext cx="79552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458968" y="1609344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</a:rPr>
              <a:t>Edit  Del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228600" y="1810512"/>
            <a:ext cx="10515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265176" y="1810512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Mike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1280160" y="1810512"/>
            <a:ext cx="1005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1316736" y="181051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#67890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286000" y="1810512"/>
            <a:ext cx="6858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2322576" y="1810512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Any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2971800" y="1810512"/>
            <a:ext cx="1325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008376" y="1810512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563EB"/>
                </a:solidFill>
              </a:rPr>
              <a:t>MIKE_*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4297680" y="1810512"/>
            <a:ext cx="5303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334256" y="18105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3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4828032" y="1810512"/>
            <a:ext cx="5943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864608" y="1810512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Active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5422392" y="1810512"/>
            <a:ext cx="79552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5458968" y="1810512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</a:rPr>
              <a:t>Edit  Del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28600" y="2011680"/>
            <a:ext cx="105156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265176" y="2011680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Priya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1280160" y="2011680"/>
            <a:ext cx="10058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1316736" y="2011680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#11111, #22222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2286000" y="2011680"/>
            <a:ext cx="68580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322576" y="2011680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0.20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2971800" y="2011680"/>
            <a:ext cx="132588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3008376" y="2011680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563EB"/>
                </a:solidFill>
              </a:rPr>
              <a:t>PRIYA_*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4297680" y="2011680"/>
            <a:ext cx="53035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4334256" y="2011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4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4828032" y="2011680"/>
            <a:ext cx="59436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864608" y="2011680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7280"/>
                </a:solidFill>
              </a:rPr>
              <a:t>Inactive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422392" y="2011680"/>
            <a:ext cx="79552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5458968" y="2011680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</a:rPr>
              <a:t>Edit  Del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6327648" y="1207008"/>
            <a:ext cx="2633472" cy="3863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6419088" y="127101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</a:rPr>
              <a:t>Edit Rule: John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419088" y="1499616"/>
            <a:ext cx="2450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Trader Name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6419088" y="1636776"/>
            <a:ext cx="2450592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6464808" y="1636776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John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6419088" y="1929384"/>
            <a:ext cx="2450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Account(s)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6419088" y="2066544"/>
            <a:ext cx="2450592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6464808" y="2066544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#12345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6419088" y="2359152"/>
            <a:ext cx="2450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Lot Size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6419088" y="2496312"/>
            <a:ext cx="2450592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6464808" y="2496312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0.10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6419088" y="2788920"/>
            <a:ext cx="2450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Comment Pattern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6419088" y="2926080"/>
            <a:ext cx="2450592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6464808" y="2926080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JOHN_*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6419088" y="3218688"/>
            <a:ext cx="2450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Priority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6419088" y="3355848"/>
            <a:ext cx="2450592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6464808" y="3355848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1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6419088" y="3648456"/>
            <a:ext cx="2450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Status</a:t>
            </a:r>
            <a:endParaRPr lang="en-US" sz="600" dirty="0"/>
          </a:p>
        </p:txBody>
      </p:sp>
      <p:sp>
        <p:nvSpPr>
          <p:cNvPr id="106" name="Shape 104"/>
          <p:cNvSpPr/>
          <p:nvPr/>
        </p:nvSpPr>
        <p:spPr>
          <a:xfrm>
            <a:off x="6419088" y="3785616"/>
            <a:ext cx="2450592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6464808" y="3785616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Active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6419088" y="4759452"/>
            <a:ext cx="2450592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6419088" y="475945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Save Rule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Screen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383280" y="64008"/>
            <a:ext cx="2651760" cy="246888"/>
          </a:xfrm>
          <a:prstGeom prst="rect">
            <a:avLst/>
          </a:prstGeom>
          <a:solidFill>
            <a:srgbClr val="2A4A72"/>
          </a:solidFill>
          <a:ln w="12700">
            <a:solidFill>
              <a:srgbClr val="3B6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Manual Traders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Algo Strategies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309360" y="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C7F0"/>
                </a:solidFill>
              </a:rPr>
              <a:t>Dashboard  |  Config  |  Disputes ●3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82880" y="448056"/>
            <a:ext cx="1828800" cy="265176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2880" y="448056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Manual Trader Rules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57400" y="448056"/>
            <a:ext cx="18288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57400" y="448056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</a:rPr>
              <a:t>Algo Strategy Rules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2880" y="7589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Algo Strategy Rule Configuration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758952"/>
            <a:ext cx="178308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086600" y="7589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+ Add Strategy Rule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82880" y="1014984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D97706"/>
                </a:solidFill>
              </a:rPr>
              <a:t>! Saving any rule immediately re-runs attribution on all loaded trade data.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28600" y="1207008"/>
            <a:ext cx="9601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65176" y="1207008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Strategy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1188720" y="1207008"/>
            <a:ext cx="9601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225296" y="1207008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Account(s)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148840" y="1207008"/>
            <a:ext cx="6400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185416" y="12070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Magic No.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788920" y="1207008"/>
            <a:ext cx="5029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825496" y="120700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Lot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291840" y="1207008"/>
            <a:ext cx="11887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28416" y="120700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Comment Pattern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480560" y="1207008"/>
            <a:ext cx="47548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17136" y="12070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Priority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4956048" y="1207008"/>
            <a:ext cx="54864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92624" y="120700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Status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5504688" y="1207008"/>
            <a:ext cx="59436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541264" y="1207008"/>
            <a:ext cx="52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Actions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28600" y="1408176"/>
            <a:ext cx="960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65176" y="140817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GoldFib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1188720" y="1408176"/>
            <a:ext cx="960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225296" y="140817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#12345, #67890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148840" y="1408176"/>
            <a:ext cx="6400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185416" y="14081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</a:rPr>
              <a:t>1001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2788920" y="1408176"/>
            <a:ext cx="5029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825496" y="1408176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0.10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291840" y="1408176"/>
            <a:ext cx="11887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328416" y="140817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563EB"/>
                </a:solidFill>
              </a:rPr>
              <a:t>GF_*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480560" y="1408176"/>
            <a:ext cx="47548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517136" y="14081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956048" y="1408176"/>
            <a:ext cx="5486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92624" y="14081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Active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5504688" y="1408176"/>
            <a:ext cx="5943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541264" y="1408176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</a:rPr>
              <a:t>Edit Del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28600" y="1609344"/>
            <a:ext cx="9601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65176" y="1609344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GridScalper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188720" y="1609344"/>
            <a:ext cx="9601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1225296" y="1609344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#12345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2148840" y="1609344"/>
            <a:ext cx="64008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185416" y="16093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</a:rPr>
              <a:t>1002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2788920" y="1609344"/>
            <a:ext cx="5029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825496" y="1609344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0.20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3291840" y="1609344"/>
            <a:ext cx="11887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328416" y="160934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563EB"/>
                </a:solidFill>
              </a:rPr>
              <a:t>GRID_*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4480560" y="1609344"/>
            <a:ext cx="47548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517136" y="160934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2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4956048" y="1609344"/>
            <a:ext cx="5486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992624" y="16093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Active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5504688" y="1609344"/>
            <a:ext cx="59436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541264" y="1609344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</a:rPr>
              <a:t>Edit Del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228600" y="1810512"/>
            <a:ext cx="960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65176" y="181051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ElliottWave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1188720" y="1810512"/>
            <a:ext cx="9601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1225296" y="181051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#67890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2148840" y="1810512"/>
            <a:ext cx="6400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185416" y="18105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</a:rPr>
              <a:t>1003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2788920" y="1810512"/>
            <a:ext cx="5029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825496" y="1810512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0.05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3291840" y="1810512"/>
            <a:ext cx="11887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3328416" y="181051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563EB"/>
                </a:solidFill>
              </a:rPr>
              <a:t>EW_*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4480560" y="1810512"/>
            <a:ext cx="47548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517136" y="181051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3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4956048" y="1810512"/>
            <a:ext cx="5486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992624" y="18105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Active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5504688" y="1810512"/>
            <a:ext cx="5943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5541264" y="1810512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</a:rPr>
              <a:t>Edit Del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228600" y="2011680"/>
            <a:ext cx="9601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265176" y="201168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F2937"/>
                </a:solidFill>
              </a:rPr>
              <a:t>GoldFibHedge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1188720" y="2011680"/>
            <a:ext cx="9601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1225296" y="2011680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#11111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2148840" y="2011680"/>
            <a:ext cx="64008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2185416" y="20116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</a:rPr>
              <a:t>1004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2788920" y="2011680"/>
            <a:ext cx="5029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2825496" y="2011680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0.10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3291840" y="2011680"/>
            <a:ext cx="118872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328416" y="201168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563EB"/>
                </a:solidFill>
              </a:rPr>
              <a:t>GFH_*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4480560" y="2011680"/>
            <a:ext cx="47548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4517136" y="20116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4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4956048" y="2011680"/>
            <a:ext cx="54864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92624" y="20116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7280"/>
                </a:solidFill>
              </a:rPr>
              <a:t>Inactive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5504688" y="2011680"/>
            <a:ext cx="59436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5541264" y="2011680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</a:rPr>
              <a:t>Edit Del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6208776" y="1207008"/>
            <a:ext cx="2752344" cy="3863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6300216" y="127101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</a:rPr>
              <a:t>Edit Rule: GoldFib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6300216" y="1499616"/>
            <a:ext cx="2569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Strategy Name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6300216" y="1636776"/>
            <a:ext cx="2569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6345936" y="163677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GoldFib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6300216" y="1911096"/>
            <a:ext cx="2569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Account(s)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6300216" y="2048256"/>
            <a:ext cx="2569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6345936" y="204825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#12345, #67890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6300216" y="2322576"/>
            <a:ext cx="2569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Magic No.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6300216" y="2459736"/>
            <a:ext cx="2569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6345936" y="245973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1001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6300216" y="2734056"/>
            <a:ext cx="2569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Lot Size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6300216" y="2871216"/>
            <a:ext cx="2569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6345936" y="287121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0.10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6300216" y="3145536"/>
            <a:ext cx="2569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Comment Pattern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6300216" y="3282696"/>
            <a:ext cx="2569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6345936" y="328269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GF_*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6300216" y="3557016"/>
            <a:ext cx="2569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Status</a:t>
            </a:r>
            <a:endParaRPr lang="en-US" sz="600" dirty="0"/>
          </a:p>
        </p:txBody>
      </p:sp>
      <p:sp>
        <p:nvSpPr>
          <p:cNvPr id="116" name="Shape 114"/>
          <p:cNvSpPr/>
          <p:nvPr/>
        </p:nvSpPr>
        <p:spPr>
          <a:xfrm>
            <a:off x="6300216" y="3694176"/>
            <a:ext cx="25694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6345936" y="369417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7"/>
                </a:solidFill>
              </a:rPr>
              <a:t>Active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6300216" y="4759452"/>
            <a:ext cx="2569464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6300216" y="4759452"/>
            <a:ext cx="2569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Save Rule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Dispute Resolution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383280" y="64008"/>
            <a:ext cx="2651760" cy="246888"/>
          </a:xfrm>
          <a:prstGeom prst="rect">
            <a:avLst/>
          </a:prstGeom>
          <a:solidFill>
            <a:srgbClr val="2A4A72"/>
          </a:solidFill>
          <a:ln w="12700">
            <a:solidFill>
              <a:srgbClr val="3B6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Manual Traders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Algo Strategies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309360" y="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C7F0"/>
                </a:solidFill>
              </a:rPr>
              <a:t>Dashboard  |  Config  |  Disputes ●3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0" y="448056"/>
            <a:ext cx="9144000" cy="24688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2880" y="448056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</a:rPr>
              <a:t>! 12 trades could not be automatically attributed and require manual review.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498080" y="44805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563EB"/>
                </a:solidFill>
              </a:rPr>
              <a:t>Bulk Assign  ▾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82880" y="731520"/>
            <a:ext cx="5440680" cy="43571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2608" y="7863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</a:rPr>
              <a:t>Disputed / Unresolved Trades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005840"/>
            <a:ext cx="1828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0896" y="100584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457200" y="1005840"/>
            <a:ext cx="74980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" y="100584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Date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1207008" y="1005840"/>
            <a:ext cx="621792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243584" y="1005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Symbol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1828800" y="1005840"/>
            <a:ext cx="621792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865376" y="1005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Account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2450592" y="1005840"/>
            <a:ext cx="38404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487168" y="10058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Lot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834640" y="1005840"/>
            <a:ext cx="804672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871216" y="1005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Comment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3639312" y="1005840"/>
            <a:ext cx="47548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75888" y="100584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Magic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114800" y="1005840"/>
            <a:ext cx="56692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51376" y="100584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Net P&amp;L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681728" y="1005840"/>
            <a:ext cx="804672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8304" y="1005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FFFF"/>
                </a:solidFill>
              </a:rPr>
              <a:t>Reason Flagged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274320" y="1207008"/>
            <a:ext cx="18288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10896" y="120700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2563EB"/>
                </a:solidFill>
              </a:rPr>
              <a:t>▶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57200" y="1207008"/>
            <a:ext cx="74980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3776" y="120700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01 Apr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1207008" y="1207008"/>
            <a:ext cx="62179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243584" y="1207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XAUUSD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1828800" y="1207008"/>
            <a:ext cx="62179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865376" y="12070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#12345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2450592" y="1207008"/>
            <a:ext cx="38404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487168" y="120700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0.10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2834640" y="1207008"/>
            <a:ext cx="80467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871216" y="12070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563EB"/>
                </a:solidFill>
              </a:rPr>
              <a:t>JOHN_XAUUSD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639312" y="1207008"/>
            <a:ext cx="47548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675888" y="120700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4114800" y="1207008"/>
            <a:ext cx="566928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151376" y="120700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+$210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4681728" y="1207008"/>
            <a:ext cx="804672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718304" y="12070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97706"/>
                </a:solidFill>
              </a:rPr>
              <a:t>Lot match conflict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274320" y="1389888"/>
            <a:ext cx="18288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10896" y="138988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57200" y="1389888"/>
            <a:ext cx="74980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93776" y="13898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02 Apr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1207008" y="1389888"/>
            <a:ext cx="62179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1243584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EURUSD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1828800" y="1389888"/>
            <a:ext cx="62179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1865376" y="1389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#12345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2450592" y="1389888"/>
            <a:ext cx="38404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487168" y="138988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0.05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2834640" y="1389888"/>
            <a:ext cx="80467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2871216" y="13898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3639312" y="1389888"/>
            <a:ext cx="47548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675888" y="138988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4114800" y="1389888"/>
            <a:ext cx="56692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151376" y="138988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DC2626"/>
                </a:solidFill>
              </a:rPr>
              <a:t>-$85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4681728" y="1389888"/>
            <a:ext cx="80467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718304" y="13898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97706"/>
                </a:solidFill>
              </a:rPr>
              <a:t>No comment match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274320" y="157276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310896" y="157276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457200" y="1572768"/>
            <a:ext cx="74980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3776" y="157276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03 Apr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1207008" y="1572768"/>
            <a:ext cx="62179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1243584" y="15727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XAUUSD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1828800" y="1572768"/>
            <a:ext cx="62179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1865376" y="15727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#67890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2450592" y="1572768"/>
            <a:ext cx="38404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2487168" y="157276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0.10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2834640" y="1572768"/>
            <a:ext cx="80467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871216" y="15727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563EB"/>
                </a:solidFill>
              </a:rPr>
              <a:t>GF_XAUUSD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3639312" y="1572768"/>
            <a:ext cx="47548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3675888" y="157276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4114800" y="1572768"/>
            <a:ext cx="56692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4151376" y="157276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+$320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4681728" y="1572768"/>
            <a:ext cx="80467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718304" y="15727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97706"/>
                </a:solidFill>
              </a:rPr>
              <a:t>Lot match conflict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274320" y="1755648"/>
            <a:ext cx="182880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310896" y="175564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457200" y="1755648"/>
            <a:ext cx="74980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93776" y="175564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04 Apr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1207008" y="1755648"/>
            <a:ext cx="62179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1243584" y="17556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GBPUSD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1828800" y="1755648"/>
            <a:ext cx="62179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1865376" y="17556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#12345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2450592" y="1755648"/>
            <a:ext cx="38404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2487168" y="17556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0.10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2834640" y="1755648"/>
            <a:ext cx="80467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2871216" y="1755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2563EB"/>
                </a:solidFill>
              </a:rPr>
              <a:t>MIKE_GBPUSD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3639312" y="1755648"/>
            <a:ext cx="47548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3675888" y="175564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4114800" y="1755648"/>
            <a:ext cx="566928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151376" y="17556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059669"/>
                </a:solidFill>
              </a:rPr>
              <a:t>+$150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4681728" y="1755648"/>
            <a:ext cx="804672" cy="182880"/>
          </a:xfrm>
          <a:prstGeom prst="rect">
            <a:avLst/>
          </a:prstGeom>
          <a:solidFill>
            <a:srgbClr val="E8ED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718304" y="1755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97706"/>
                </a:solidFill>
              </a:rPr>
              <a:t>Time-shift unclear</a:t>
            </a:r>
            <a:endParaRPr lang="en-US" sz="600" dirty="0"/>
          </a:p>
        </p:txBody>
      </p:sp>
      <p:sp>
        <p:nvSpPr>
          <p:cNvPr id="105" name="Shape 103"/>
          <p:cNvSpPr/>
          <p:nvPr/>
        </p:nvSpPr>
        <p:spPr>
          <a:xfrm>
            <a:off x="274320" y="193852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10896" y="1938528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457200" y="1938528"/>
            <a:ext cx="74980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93776" y="193852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05 Apr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1207008" y="1938528"/>
            <a:ext cx="62179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1243584" y="19385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USDJPY</a:t>
            </a:r>
            <a:endParaRPr lang="en-US" sz="600" dirty="0"/>
          </a:p>
        </p:txBody>
      </p:sp>
      <p:sp>
        <p:nvSpPr>
          <p:cNvPr id="111" name="Shape 109"/>
          <p:cNvSpPr/>
          <p:nvPr/>
        </p:nvSpPr>
        <p:spPr>
          <a:xfrm>
            <a:off x="1828800" y="1938528"/>
            <a:ext cx="62179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1865376" y="19385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F2937"/>
                </a:solidFill>
              </a:rPr>
              <a:t>#67890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2450592" y="1938528"/>
            <a:ext cx="38404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2487168" y="193852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0.20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2834640" y="1938528"/>
            <a:ext cx="80467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871216" y="1938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600" dirty="0"/>
          </a:p>
        </p:txBody>
      </p:sp>
      <p:sp>
        <p:nvSpPr>
          <p:cNvPr id="117" name="Shape 115"/>
          <p:cNvSpPr/>
          <p:nvPr/>
        </p:nvSpPr>
        <p:spPr>
          <a:xfrm>
            <a:off x="3639312" y="1938528"/>
            <a:ext cx="47548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3675888" y="193852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F2937"/>
                </a:solidFill>
              </a:rPr>
              <a:t>1002</a:t>
            </a:r>
            <a:endParaRPr lang="en-US" sz="600" dirty="0"/>
          </a:p>
        </p:txBody>
      </p:sp>
      <p:sp>
        <p:nvSpPr>
          <p:cNvPr id="119" name="Shape 117"/>
          <p:cNvSpPr/>
          <p:nvPr/>
        </p:nvSpPr>
        <p:spPr>
          <a:xfrm>
            <a:off x="4114800" y="1938528"/>
            <a:ext cx="566928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4151376" y="193852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DC2626"/>
                </a:solidFill>
              </a:rPr>
              <a:t>-$180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4681728" y="1938528"/>
            <a:ext cx="80467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4718304" y="1938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D97706"/>
                </a:solidFill>
              </a:rPr>
              <a:t>No comment match</a:t>
            </a:r>
            <a:endParaRPr lang="en-US" sz="600" dirty="0"/>
          </a:p>
        </p:txBody>
      </p:sp>
      <p:sp>
        <p:nvSpPr>
          <p:cNvPr id="123" name="Text 121"/>
          <p:cNvSpPr/>
          <p:nvPr/>
        </p:nvSpPr>
        <p:spPr>
          <a:xfrm>
            <a:off x="274320" y="2157984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6B7280"/>
                </a:solidFill>
              </a:rPr>
              <a:t>Showing 5 of 12  [ Load More ]</a:t>
            </a:r>
            <a:endParaRPr lang="en-US" sz="600" dirty="0"/>
          </a:p>
        </p:txBody>
      </p:sp>
      <p:sp>
        <p:nvSpPr>
          <p:cNvPr id="124" name="Shape 122"/>
          <p:cNvSpPr/>
          <p:nvPr/>
        </p:nvSpPr>
        <p:spPr>
          <a:xfrm>
            <a:off x="5715000" y="731520"/>
            <a:ext cx="3246120" cy="43571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5806440" y="78638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</a:rPr>
              <a:t>Assign Trade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5806440" y="97840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01 Apr  ·  XAUUSD  ·  +$210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5806440" y="115214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</a:rPr>
              <a:t>Candidate Categories: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5806440" y="1353312"/>
            <a:ext cx="3063240" cy="59436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5879592" y="13990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</a:rPr>
              <a:t>John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5879592" y="158191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Rule: Account + Lot match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5879592" y="1755648"/>
            <a:ext cx="868680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5879592" y="17556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Assign to John</a:t>
            </a:r>
            <a:endParaRPr lang="en-US" sz="550" dirty="0"/>
          </a:p>
        </p:txBody>
      </p:sp>
      <p:sp>
        <p:nvSpPr>
          <p:cNvPr id="133" name="Shape 131"/>
          <p:cNvSpPr/>
          <p:nvPr/>
        </p:nvSpPr>
        <p:spPr>
          <a:xfrm>
            <a:off x="5806440" y="2039112"/>
            <a:ext cx="3063240" cy="59436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5879592" y="20848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937"/>
                </a:solidFill>
              </a:rPr>
              <a:t>GoldFib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5879592" y="226771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Rule: Lot match (L7)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5879592" y="2441448"/>
            <a:ext cx="86868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ext 135"/>
          <p:cNvSpPr/>
          <p:nvPr/>
        </p:nvSpPr>
        <p:spPr>
          <a:xfrm>
            <a:off x="5879592" y="24414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Assign to GoldFib</a:t>
            </a:r>
            <a:endParaRPr lang="en-US" sz="550" dirty="0"/>
          </a:p>
        </p:txBody>
      </p:sp>
      <p:sp>
        <p:nvSpPr>
          <p:cNvPr id="138" name="Shape 136"/>
          <p:cNvSpPr/>
          <p:nvPr/>
        </p:nvSpPr>
        <p:spPr>
          <a:xfrm>
            <a:off x="5806440" y="4539996"/>
            <a:ext cx="3063240" cy="2103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Text 137"/>
          <p:cNvSpPr/>
          <p:nvPr/>
        </p:nvSpPr>
        <p:spPr>
          <a:xfrm>
            <a:off x="5806440" y="4539996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7C3AED"/>
                </a:solidFill>
              </a:rPr>
              <a:t>Assign to Multiple Categories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5806440" y="4786884"/>
            <a:ext cx="3063240" cy="210312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Text 139"/>
          <p:cNvSpPr/>
          <p:nvPr/>
        </p:nvSpPr>
        <p:spPr>
          <a:xfrm>
            <a:off x="5806440" y="4786884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</a:rPr>
              <a:t>Keep in Guest / Common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Attribution Cascade Engine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383280" y="64008"/>
            <a:ext cx="2651760" cy="246888"/>
          </a:xfrm>
          <a:prstGeom prst="rect">
            <a:avLst/>
          </a:prstGeom>
          <a:solidFill>
            <a:srgbClr val="2A4A72"/>
          </a:solidFill>
          <a:ln w="12700">
            <a:solidFill>
              <a:srgbClr val="3B64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10712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Manual Traders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solidFill>
            <a:srgbClr val="2A4A72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09160" y="91440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Algo Strategies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309360" y="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C7F0"/>
                </a:solidFill>
              </a:rPr>
              <a:t>Dashboard  |  Config  |  Disputes ●3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2880" y="475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Trade Attribution Cascade — L1 to L10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" y="71323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</a:rPr>
              <a:t>Rules evaluated top-down; first unambiguous match wins and stops the cascade.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2880" y="914400"/>
            <a:ext cx="34747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8288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0352" y="914400"/>
            <a:ext cx="2944368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" y="91440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F2937"/>
                </a:solidFill>
              </a:rPr>
              <a:t>Account + Magic No. + Comment Pattern (all three)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474720" y="914400"/>
            <a:ext cx="5486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0" y="914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Assigned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2103120" y="1261872"/>
            <a:ext cx="0" cy="3657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" y="1298448"/>
            <a:ext cx="34747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8288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0352" y="1298448"/>
            <a:ext cx="2944368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66928" y="129844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F2937"/>
                </a:solidFill>
              </a:rPr>
              <a:t>Account + Magic Number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474720" y="1298448"/>
            <a:ext cx="5486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0" y="12984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Assigned</a:t>
            </a:r>
            <a:endParaRPr lang="en-US" sz="500" dirty="0"/>
          </a:p>
        </p:txBody>
      </p:sp>
      <p:sp>
        <p:nvSpPr>
          <p:cNvPr id="25" name="Shape 23"/>
          <p:cNvSpPr/>
          <p:nvPr/>
        </p:nvSpPr>
        <p:spPr>
          <a:xfrm>
            <a:off x="2103120" y="1645920"/>
            <a:ext cx="0" cy="3657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2880" y="1682496"/>
            <a:ext cx="34747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8288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30352" y="1682496"/>
            <a:ext cx="2944368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66928" y="168249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F2937"/>
                </a:solidFill>
              </a:rPr>
              <a:t>Account + Comment Pattern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474720" y="1682496"/>
            <a:ext cx="5486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74720" y="168249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Assigned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2103120" y="2029968"/>
            <a:ext cx="0" cy="3657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82880" y="2066544"/>
            <a:ext cx="34747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82880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30352" y="2066544"/>
            <a:ext cx="2944368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66928" y="2066544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F2937"/>
                </a:solidFill>
              </a:rPr>
              <a:t>Account + Lot Size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474720" y="2066544"/>
            <a:ext cx="5486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74720" y="20665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Assigned</a:t>
            </a:r>
            <a:endParaRPr lang="en-US" sz="500" dirty="0"/>
          </a:p>
        </p:txBody>
      </p:sp>
      <p:sp>
        <p:nvSpPr>
          <p:cNvPr id="39" name="Shape 37"/>
          <p:cNvSpPr/>
          <p:nvPr/>
        </p:nvSpPr>
        <p:spPr>
          <a:xfrm>
            <a:off x="2103120" y="2414016"/>
            <a:ext cx="0" cy="3657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82880" y="2450592"/>
            <a:ext cx="34747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8288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L5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30352" y="2450592"/>
            <a:ext cx="2944368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66928" y="245059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F2937"/>
                </a:solidFill>
              </a:rPr>
              <a:t>Magic Number only (any account)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474720" y="2450592"/>
            <a:ext cx="5486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474720" y="2450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Assigned</a:t>
            </a:r>
            <a:endParaRPr lang="en-US" sz="500" dirty="0"/>
          </a:p>
        </p:txBody>
      </p:sp>
      <p:sp>
        <p:nvSpPr>
          <p:cNvPr id="46" name="Shape 44"/>
          <p:cNvSpPr/>
          <p:nvPr/>
        </p:nvSpPr>
        <p:spPr>
          <a:xfrm>
            <a:off x="4480560" y="914400"/>
            <a:ext cx="34747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48056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L6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28032" y="914400"/>
            <a:ext cx="2944368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864608" y="914400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F2937"/>
                </a:solidFill>
              </a:rPr>
              <a:t>Comment Pattern only (any account)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7772400" y="914400"/>
            <a:ext cx="5486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772400" y="914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Assigned</a:t>
            </a:r>
            <a:endParaRPr lang="en-US" sz="500" dirty="0"/>
          </a:p>
        </p:txBody>
      </p:sp>
      <p:sp>
        <p:nvSpPr>
          <p:cNvPr id="52" name="Shape 50"/>
          <p:cNvSpPr/>
          <p:nvPr/>
        </p:nvSpPr>
        <p:spPr>
          <a:xfrm>
            <a:off x="6400800" y="1261872"/>
            <a:ext cx="0" cy="3657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480560" y="1298448"/>
            <a:ext cx="34747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48056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L7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28032" y="1298448"/>
            <a:ext cx="2944368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64608" y="129844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F2937"/>
                </a:solidFill>
              </a:rPr>
              <a:t>Lot Size — Multiple categories match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772400" y="1298448"/>
            <a:ext cx="548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772400" y="12984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→ Disamb.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6400800" y="1645920"/>
            <a:ext cx="0" cy="3657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480560" y="1682496"/>
            <a:ext cx="34747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48056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L8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828032" y="1682496"/>
            <a:ext cx="2944368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864608" y="1682496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F2937"/>
                </a:solidFill>
              </a:rPr>
              <a:t>Symbol distribution dominance check (&gt;80% threshold)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7772400" y="1682496"/>
            <a:ext cx="548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772400" y="168249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Assign / Next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6400800" y="2029968"/>
            <a:ext cx="0" cy="3657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4480560" y="2066544"/>
            <a:ext cx="34747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480560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L9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828032" y="2066544"/>
            <a:ext cx="2944368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864608" y="2066544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F2937"/>
                </a:solidFill>
              </a:rPr>
              <a:t>Time-shift / session pattern match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7772400" y="2066544"/>
            <a:ext cx="548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772400" y="20665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Assign / Next</a:t>
            </a:r>
            <a:endParaRPr lang="en-US" sz="500" dirty="0"/>
          </a:p>
        </p:txBody>
      </p:sp>
      <p:sp>
        <p:nvSpPr>
          <p:cNvPr id="73" name="Shape 71"/>
          <p:cNvSpPr/>
          <p:nvPr/>
        </p:nvSpPr>
        <p:spPr>
          <a:xfrm>
            <a:off x="6400800" y="2414016"/>
            <a:ext cx="0" cy="36576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4480560" y="2450592"/>
            <a:ext cx="347472" cy="34747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48056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L10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828032" y="2450592"/>
            <a:ext cx="2944368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864608" y="245059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F2937"/>
                </a:solidFill>
              </a:rPr>
              <a:t>No rule resolves — all cascade exhausted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7772400" y="2450592"/>
            <a:ext cx="548640" cy="34747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7772400" y="2450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</a:rPr>
              <a:t>Dispute+Guest</a:t>
            </a:r>
            <a:endParaRPr lang="en-US" sz="500" dirty="0"/>
          </a:p>
        </p:txBody>
      </p:sp>
      <p:sp>
        <p:nvSpPr>
          <p:cNvPr id="80" name="Shape 78"/>
          <p:cNvSpPr/>
          <p:nvPr/>
        </p:nvSpPr>
        <p:spPr>
          <a:xfrm>
            <a:off x="4160520" y="914400"/>
            <a:ext cx="0" cy="1883664"/>
          </a:xfrm>
          <a:prstGeom prst="line">
            <a:avLst/>
          </a:prstGeom>
          <a:noFill/>
          <a:ln w="12700">
            <a:solidFill>
              <a:srgbClr val="CBD5E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8339328" y="914400"/>
            <a:ext cx="6217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8394192" y="96926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3A5F"/>
                </a:solidFill>
              </a:rPr>
              <a:t>Key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8394192" y="1188720"/>
            <a:ext cx="109728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8531352" y="1188720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Direct assign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8394192" y="1481328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8531352" y="148132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Disambiguate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8394192" y="1773936"/>
            <a:ext cx="109728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8531352" y="1773936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</a:rPr>
              <a:t>Escalate</a:t>
            </a:r>
            <a:endParaRPr lang="en-US" sz="550" dirty="0"/>
          </a:p>
        </p:txBody>
      </p:sp>
      <p:sp>
        <p:nvSpPr>
          <p:cNvPr id="89" name="Shape 87"/>
          <p:cNvSpPr/>
          <p:nvPr/>
        </p:nvSpPr>
        <p:spPr>
          <a:xfrm>
            <a:off x="182880" y="4850892"/>
            <a:ext cx="8778240" cy="21945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274320" y="4850892"/>
            <a:ext cx="8641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D97706"/>
                </a:solidFill>
              </a:rPr>
              <a:t>Risk Assessment Report: When SL and TP are present on a trade, the system calculates R:R ratio, expected value, and generates a per-trader / per-strategy risk report as an additional analytics layer.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1306</Words>
  <Application>Microsoft Office PowerPoint</Application>
  <PresentationFormat>On-screen Show (16:9)</PresentationFormat>
  <Paragraphs>555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Performance Dashboard — Wireframes</dc:title>
  <dc:subject>PptxGenJS Presentation</dc:subject>
  <dc:creator>PptxGenJS</dc:creator>
  <cp:lastModifiedBy>Ninad Kulklarni</cp:lastModifiedBy>
  <cp:revision>2</cp:revision>
  <dcterms:created xsi:type="dcterms:W3CDTF">2026-04-01T16:12:30Z</dcterms:created>
  <dcterms:modified xsi:type="dcterms:W3CDTF">2026-04-01T18:10:43Z</dcterms:modified>
</cp:coreProperties>
</file>