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1216152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1216152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1216152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1216152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1216152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1216152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1216152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1216152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12161520" cy="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12700">
            <a:solidFill>
              <a:srgbClr val="1A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1280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Performance Dashboard</a:t>
            </a:r>
            <a:endParaRPr lang="en-US" sz="3800" dirty="0"/>
          </a:p>
        </p:txBody>
      </p:sp>
      <p:sp>
        <p:nvSpPr>
          <p:cNvPr id="36" name="Text 34"/>
          <p:cNvSpPr/>
          <p:nvPr/>
        </p:nvSpPr>
        <p:spPr>
          <a:xfrm>
            <a:off x="457200" y="21488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57200" y="2926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Diagrams  ·  Version 1.0  ·  April 2026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778240" y="731520"/>
            <a:ext cx="3108960" cy="5486400"/>
          </a:xfrm>
          <a:prstGeom prst="rect">
            <a:avLst/>
          </a:prstGeom>
          <a:solidFill>
            <a:srgbClr val="152438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0" y="868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961120" y="1234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System Architecture Overview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961120" y="1709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 Flow — End to End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961120" y="21854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Attribution Engine Detail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961120" y="2660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Component Interaction Map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4320" y="52120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architecture: Source  &gt;  Ingestion  &gt;  Processing  &gt;  Storage  &gt;  Presentation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804672"/>
            <a:ext cx="11612880" cy="713232"/>
          </a:xfrm>
          <a:prstGeom prst="rect">
            <a:avLst/>
          </a:prstGeom>
          <a:solidFill>
            <a:srgbClr val="0A2540">
              <a:alpha val="15000"/>
            </a:srgbClr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8229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—  DATA SOURCES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274320" y="1600200"/>
            <a:ext cx="11612880" cy="713232"/>
          </a:xfrm>
          <a:prstGeom prst="rect">
            <a:avLst/>
          </a:prstGeom>
          <a:solidFill>
            <a:srgbClr val="0A2E25">
              <a:alpha val="15000"/>
            </a:srgbClr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161848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—  DATA INGESTION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74320" y="2542032"/>
            <a:ext cx="11612880" cy="713232"/>
          </a:xfrm>
          <a:prstGeom prst="rect">
            <a:avLst/>
          </a:prstGeom>
          <a:solidFill>
            <a:srgbClr val="2D1F4E">
              <a:alpha val="15000"/>
            </a:srgbClr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" y="25603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—  PROCESSING ENGINE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74320" y="3493008"/>
            <a:ext cx="11612880" cy="713232"/>
          </a:xfrm>
          <a:prstGeom prst="rect">
            <a:avLst/>
          </a:prstGeom>
          <a:solidFill>
            <a:srgbClr val="2E1F0A">
              <a:alpha val="15000"/>
            </a:srgbClr>
          </a:solidFill>
          <a:ln w="12700">
            <a:solidFill>
              <a:srgbClr val="9240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7472" y="351129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 —  DATA STORE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74320" y="4434840"/>
            <a:ext cx="11612880" cy="713232"/>
          </a:xfrm>
          <a:prstGeom prst="rect">
            <a:avLst/>
          </a:prstGeom>
          <a:solidFill>
            <a:srgbClr val="0A1F2E">
              <a:alpha val="15000"/>
            </a:srgbClr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7472" y="445312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 —  PRESENTATION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57200" y="1024128"/>
            <a:ext cx="201168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10241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Account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#12345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24912" y="1024128"/>
            <a:ext cx="201168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24912" y="10241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Account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#67890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992624" y="1024128"/>
            <a:ext cx="201168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92624" y="10241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Account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#11111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260336" y="1024128"/>
            <a:ext cx="201168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60336" y="10241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Account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#22222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528048" y="1024128"/>
            <a:ext cx="201168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528048" y="10241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Live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Feed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" y="1819656"/>
            <a:ext cx="201168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18196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24912" y="1819656"/>
            <a:ext cx="201168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24912" y="18196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(.xlsx)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992624" y="1819656"/>
            <a:ext cx="201168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92624" y="18196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Injector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260336" y="1819656"/>
            <a:ext cx="201168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260336" y="18196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Normaliser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9528048" y="1819656"/>
            <a:ext cx="201168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528048" y="18196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2706624"/>
            <a:ext cx="2560320" cy="493776"/>
          </a:xfrm>
          <a:prstGeom prst="rect">
            <a:avLst/>
          </a:prstGeom>
          <a:solidFill>
            <a:srgbClr val="1C305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57200" y="270662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Engine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(L1 – L10)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108960" y="2706624"/>
            <a:ext cx="2560320" cy="493776"/>
          </a:xfrm>
          <a:prstGeom prst="rect">
            <a:avLst/>
          </a:prstGeom>
          <a:solidFill>
            <a:srgbClr val="1C305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108960" y="270662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Disambiguation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(Symbol + Time)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760720" y="2706624"/>
            <a:ext cx="2286000" cy="493776"/>
          </a:xfrm>
          <a:prstGeom prst="rect">
            <a:avLst/>
          </a:prstGeom>
          <a:solidFill>
            <a:srgbClr val="1C305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760720" y="2706624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Assignment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(1-to-Many)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8138160" y="2706624"/>
            <a:ext cx="2286000" cy="493776"/>
          </a:xfrm>
          <a:prstGeom prst="rect">
            <a:avLst/>
          </a:prstGeom>
          <a:solidFill>
            <a:srgbClr val="1C305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138160" y="2706624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(R:R / EV)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0515600" y="2706624"/>
            <a:ext cx="1600200" cy="493776"/>
          </a:xfrm>
          <a:prstGeom prst="rect">
            <a:avLst/>
          </a:prstGeom>
          <a:solidFill>
            <a:srgbClr val="1C305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0515600" y="2706624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57200" y="3712464"/>
            <a:ext cx="274320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57200" y="371246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Store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(Raw + Attributed)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310128" y="3712464"/>
            <a:ext cx="228600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310128" y="371246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Store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(Rules DB)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705856" y="3712464"/>
            <a:ext cx="256032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705856" y="371246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Queue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(Unresolved Trades)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375904" y="3712464"/>
            <a:ext cx="228600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8375904" y="371246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/ Common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Store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0771632" y="3712464"/>
            <a:ext cx="150876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10771632" y="371246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Report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57200" y="4654296"/>
            <a:ext cx="201168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57200" y="465429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(Leaderboard)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724912" y="4654296"/>
            <a:ext cx="201168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2724912" y="465429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Panel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992624" y="4654296"/>
            <a:ext cx="201168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992624" y="465429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by Symbol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260336" y="4654296"/>
            <a:ext cx="201168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7260336" y="465429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9528048" y="4654296"/>
            <a:ext cx="2011680" cy="420624"/>
          </a:xfrm>
          <a:prstGeom prst="rect">
            <a:avLst/>
          </a:prstGeom>
          <a:solidFill>
            <a:srgbClr val="1C30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9528048" y="465429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080760" y="1517904"/>
            <a:ext cx="-6080760" cy="-1435608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77" name="Shape 75"/>
          <p:cNvSpPr/>
          <p:nvPr/>
        </p:nvSpPr>
        <p:spPr>
          <a:xfrm>
            <a:off x="6080760" y="2313432"/>
            <a:ext cx="-6080760" cy="-2084832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78" name="Shape 76"/>
          <p:cNvSpPr/>
          <p:nvPr/>
        </p:nvSpPr>
        <p:spPr>
          <a:xfrm>
            <a:off x="6080760" y="3255264"/>
            <a:ext cx="-6080760" cy="-301752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79" name="Shape 77"/>
          <p:cNvSpPr/>
          <p:nvPr/>
        </p:nvSpPr>
        <p:spPr>
          <a:xfrm>
            <a:off x="6080760" y="4206240"/>
            <a:ext cx="-6080760" cy="-397764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80" name="Shape 78"/>
          <p:cNvSpPr/>
          <p:nvPr/>
        </p:nvSpPr>
        <p:spPr>
          <a:xfrm>
            <a:off x="11201400" y="2542032"/>
            <a:ext cx="685800" cy="713232"/>
          </a:xfrm>
          <a:prstGeom prst="rect">
            <a:avLst/>
          </a:prstGeom>
          <a:solidFill>
            <a:srgbClr val="1C3050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11201400" y="2542032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10972800" y="3813048"/>
            <a:ext cx="228600" cy="-1024128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  <a:tailEnd type="arrow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6459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 —  End to End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4320" y="52120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MT5 account export to attributed P&amp;L dashboard view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841248"/>
            <a:ext cx="2103120" cy="960120"/>
          </a:xfrm>
          <a:prstGeom prst="rect">
            <a:avLst/>
          </a:prstGeom>
          <a:solidFill>
            <a:srgbClr val="1C305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841248"/>
            <a:ext cx="384048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8412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1752" y="111556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Account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" y="142646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exports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or Excel from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History Report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532888" y="841248"/>
            <a:ext cx="2103120" cy="960120"/>
          </a:xfrm>
          <a:prstGeom prst="rect">
            <a:avLst/>
          </a:prstGeom>
          <a:solidFill>
            <a:srgbClr val="1C30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32888" y="841248"/>
            <a:ext cx="38404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32888" y="8412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06040" y="111556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Mapping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06040" y="142646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file.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Account ID.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field schema.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837176" y="841248"/>
            <a:ext cx="2103120" cy="960120"/>
          </a:xfrm>
          <a:prstGeom prst="rect">
            <a:avLst/>
          </a:prstGeom>
          <a:solidFill>
            <a:srgbClr val="1C30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37176" y="841248"/>
            <a:ext cx="38404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7176" y="8412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10328" y="111556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10328" y="142646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all trade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fields. Inject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ID.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141464" y="841248"/>
            <a:ext cx="2103120" cy="960120"/>
          </a:xfrm>
          <a:prstGeom prst="rect">
            <a:avLst/>
          </a:prstGeom>
          <a:solidFill>
            <a:srgbClr val="1C30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41464" y="841248"/>
            <a:ext cx="38404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41464" y="8412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14616" y="111556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14616" y="142646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re-uploads.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or replace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records.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9445752" y="841248"/>
            <a:ext cx="2103120" cy="960120"/>
          </a:xfrm>
          <a:prstGeom prst="rect">
            <a:avLst/>
          </a:prstGeom>
          <a:solidFill>
            <a:srgbClr val="1C305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445752" y="841248"/>
            <a:ext cx="38404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45752" y="8412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518904" y="111556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Store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(Raw)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518904" y="142646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trades stored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account tag.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rules.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28600" y="3246120"/>
            <a:ext cx="2103120" cy="960120"/>
          </a:xfrm>
          <a:prstGeom prst="rect">
            <a:avLst/>
          </a:prstGeom>
          <a:solidFill>
            <a:srgbClr val="1C305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28600" y="3246120"/>
            <a:ext cx="38404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32461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01752" y="35204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L1-L6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01752" y="383133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via Account,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No., Comment,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(in order).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532888" y="3246120"/>
            <a:ext cx="2103120" cy="960120"/>
          </a:xfrm>
          <a:prstGeom prst="rect">
            <a:avLst/>
          </a:prstGeom>
          <a:solidFill>
            <a:srgbClr val="1C305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532888" y="3246120"/>
            <a:ext cx="384048" cy="2926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32888" y="32461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06040" y="35204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Disambiguation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 – L9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606040" y="383133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conflict: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symbol pattern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time-shift.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837176" y="3246120"/>
            <a:ext cx="2103120" cy="960120"/>
          </a:xfrm>
          <a:prstGeom prst="rect">
            <a:avLst/>
          </a:prstGeom>
          <a:solidFill>
            <a:srgbClr val="1C3050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37176" y="3246120"/>
            <a:ext cx="38404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37176" y="32461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910328" y="35204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Queue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910328" y="383133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trades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here for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review.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141464" y="3246120"/>
            <a:ext cx="2103120" cy="960120"/>
          </a:xfrm>
          <a:prstGeom prst="rect">
            <a:avLst/>
          </a:prstGeom>
          <a:solidFill>
            <a:srgbClr val="1C305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141464" y="3246120"/>
            <a:ext cx="384048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41464" y="32461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214616" y="35204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Calc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SL+TP)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214616" y="383133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Planned R:R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 R:R, EV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trade.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9445752" y="3246120"/>
            <a:ext cx="2103120" cy="960120"/>
          </a:xfrm>
          <a:prstGeom prst="rect">
            <a:avLst/>
          </a:prstGeom>
          <a:solidFill>
            <a:srgbClr val="1C3050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445752" y="3246120"/>
            <a:ext cx="384048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45752" y="32461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9518904" y="352044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518904" y="383133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by Account,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Symbol, Trader,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Strategy. Risk tab.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2331720" y="1321308"/>
            <a:ext cx="20116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</p:sp>
      <p:sp>
        <p:nvSpPr>
          <p:cNvPr id="67" name="Shape 65"/>
          <p:cNvSpPr/>
          <p:nvPr/>
        </p:nvSpPr>
        <p:spPr>
          <a:xfrm>
            <a:off x="4636008" y="1321308"/>
            <a:ext cx="20116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</p:sp>
      <p:sp>
        <p:nvSpPr>
          <p:cNvPr id="68" name="Shape 66"/>
          <p:cNvSpPr/>
          <p:nvPr/>
        </p:nvSpPr>
        <p:spPr>
          <a:xfrm>
            <a:off x="6940296" y="1321308"/>
            <a:ext cx="20116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</p:sp>
      <p:sp>
        <p:nvSpPr>
          <p:cNvPr id="69" name="Shape 67"/>
          <p:cNvSpPr/>
          <p:nvPr/>
        </p:nvSpPr>
        <p:spPr>
          <a:xfrm>
            <a:off x="9244584" y="1321308"/>
            <a:ext cx="20116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</p:sp>
      <p:sp>
        <p:nvSpPr>
          <p:cNvPr id="70" name="Shape 68"/>
          <p:cNvSpPr/>
          <p:nvPr/>
        </p:nvSpPr>
        <p:spPr>
          <a:xfrm>
            <a:off x="10497312" y="1801368"/>
            <a:ext cx="0" cy="144475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497312" y="1801368"/>
            <a:ext cx="0" cy="72237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280160" y="2523744"/>
            <a:ext cx="921715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280160" y="2523744"/>
            <a:ext cx="0" cy="722376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</p:sp>
      <p:sp>
        <p:nvSpPr>
          <p:cNvPr id="74" name="Shape 72"/>
          <p:cNvSpPr/>
          <p:nvPr/>
        </p:nvSpPr>
        <p:spPr>
          <a:xfrm>
            <a:off x="2331720" y="3726180"/>
            <a:ext cx="20116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</p:sp>
      <p:sp>
        <p:nvSpPr>
          <p:cNvPr id="75" name="Shape 73"/>
          <p:cNvSpPr/>
          <p:nvPr/>
        </p:nvSpPr>
        <p:spPr>
          <a:xfrm>
            <a:off x="4636008" y="3726180"/>
            <a:ext cx="20116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tailEnd type="arrow"/>
          </a:ln>
        </p:spPr>
      </p:sp>
      <p:sp>
        <p:nvSpPr>
          <p:cNvPr id="76" name="Shape 74"/>
          <p:cNvSpPr/>
          <p:nvPr/>
        </p:nvSpPr>
        <p:spPr>
          <a:xfrm>
            <a:off x="6940296" y="3726180"/>
            <a:ext cx="20116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</p:sp>
      <p:sp>
        <p:nvSpPr>
          <p:cNvPr id="77" name="Shape 75"/>
          <p:cNvSpPr/>
          <p:nvPr/>
        </p:nvSpPr>
        <p:spPr>
          <a:xfrm>
            <a:off x="9244584" y="3726180"/>
            <a:ext cx="20116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</p:sp>
      <p:sp>
        <p:nvSpPr>
          <p:cNvPr id="78" name="Text 76"/>
          <p:cNvSpPr/>
          <p:nvPr/>
        </p:nvSpPr>
        <p:spPr>
          <a:xfrm>
            <a:off x="228600" y="185623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– 05: Ingestion Pipeline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228600" y="4261104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 – 10: Attribution &amp; Reporting Pipeline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9692640" y="2971800"/>
            <a:ext cx="2194560" cy="1737360"/>
          </a:xfrm>
          <a:prstGeom prst="rect">
            <a:avLst/>
          </a:prstGeom>
          <a:solidFill>
            <a:srgbClr val="152438"/>
          </a:solidFill>
          <a:ln w="12700">
            <a:solidFill>
              <a:srgbClr val="2A4A7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9738360" y="30266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KEY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9765792" y="3282696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985248" y="32826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9765792" y="3557016"/>
            <a:ext cx="164592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985248" y="35570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9765792" y="3831336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985248" y="383133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9765792" y="4105656"/>
            <a:ext cx="1645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985248" y="410565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9765792" y="4379976"/>
            <a:ext cx="164592" cy="1645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985248" y="43799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6459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Engine  —  Cascade Flow Detail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4320" y="52120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L1–L10 decision flow with disambiguation and escalation paths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822960"/>
            <a:ext cx="2011680" cy="457200"/>
          </a:xfrm>
          <a:prstGeom prst="rect">
            <a:avLst/>
          </a:prstGeom>
          <a:solidFill>
            <a:srgbClr val="1C305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822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RECORD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0" y="804672"/>
            <a:ext cx="43891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80467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182112" y="804672"/>
            <a:ext cx="3218688" cy="402336"/>
          </a:xfrm>
          <a:prstGeom prst="rect">
            <a:avLst/>
          </a:prstGeom>
          <a:solidFill>
            <a:srgbClr val="065F4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18688" y="80467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+ Magic No. + Comment Pattern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46520" y="804672"/>
            <a:ext cx="86868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80467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029200" y="1207008"/>
            <a:ext cx="0" cy="54864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2743200" y="1261872"/>
            <a:ext cx="43891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126187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182112" y="1261872"/>
            <a:ext cx="3218688" cy="402336"/>
          </a:xfrm>
          <a:prstGeom prst="rect">
            <a:avLst/>
          </a:prstGeom>
          <a:solidFill>
            <a:srgbClr val="065F4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126187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+ Magic Number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46520" y="1261872"/>
            <a:ext cx="86868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126187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029200" y="1664208"/>
            <a:ext cx="0" cy="54864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2743200" y="1719072"/>
            <a:ext cx="43891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171907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82112" y="1719072"/>
            <a:ext cx="3218688" cy="402336"/>
          </a:xfrm>
          <a:prstGeom prst="rect">
            <a:avLst/>
          </a:prstGeom>
          <a:solidFill>
            <a:srgbClr val="065F4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18688" y="171907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+ Comment Pattern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46520" y="1719072"/>
            <a:ext cx="86868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171907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029200" y="2121408"/>
            <a:ext cx="0" cy="54864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2743200" y="2176272"/>
            <a:ext cx="43891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217627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182112" y="2176272"/>
            <a:ext cx="3218688" cy="402336"/>
          </a:xfrm>
          <a:prstGeom prst="rect">
            <a:avLst/>
          </a:prstGeom>
          <a:solidFill>
            <a:srgbClr val="065F4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18688" y="217627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+ Lot Size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46520" y="2176272"/>
            <a:ext cx="86868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217627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029200" y="2578608"/>
            <a:ext cx="0" cy="54864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2743200" y="2633472"/>
            <a:ext cx="438912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0" y="263347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182112" y="2633472"/>
            <a:ext cx="3218688" cy="402336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18688" y="263347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Number only (any account)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446520" y="2633472"/>
            <a:ext cx="86868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263347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5029200" y="3035808"/>
            <a:ext cx="0" cy="54864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2743200" y="3090672"/>
            <a:ext cx="438912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0" y="309067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182112" y="3090672"/>
            <a:ext cx="3218688" cy="402336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18688" y="309067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Pattern only (any account)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446520" y="3090672"/>
            <a:ext cx="86868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46520" y="309067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5029200" y="3493008"/>
            <a:ext cx="0" cy="54864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2743200" y="3547872"/>
            <a:ext cx="438912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0" y="354787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182112" y="3547872"/>
            <a:ext cx="3218688" cy="402336"/>
          </a:xfrm>
          <a:prstGeom prst="rect">
            <a:avLst/>
          </a:prstGeom>
          <a:solidFill>
            <a:srgbClr val="3B1F0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18688" y="354787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Size — Multiple Candidates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446520" y="3547872"/>
            <a:ext cx="86868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46520" y="354787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5029200" y="3950208"/>
            <a:ext cx="0" cy="54864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67" name="Shape 65"/>
          <p:cNvSpPr/>
          <p:nvPr/>
        </p:nvSpPr>
        <p:spPr>
          <a:xfrm>
            <a:off x="2743200" y="4005072"/>
            <a:ext cx="438912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0" y="400507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L8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182112" y="4005072"/>
            <a:ext cx="3218688" cy="402336"/>
          </a:xfrm>
          <a:prstGeom prst="rect">
            <a:avLst/>
          </a:prstGeom>
          <a:solidFill>
            <a:srgbClr val="3B1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18688" y="400507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Distribution  &gt;80% threshold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446520" y="4005072"/>
            <a:ext cx="86868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46520" y="400507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NEXT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5029200" y="4407408"/>
            <a:ext cx="0" cy="54864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74" name="Shape 72"/>
          <p:cNvSpPr/>
          <p:nvPr/>
        </p:nvSpPr>
        <p:spPr>
          <a:xfrm>
            <a:off x="2743200" y="4462272"/>
            <a:ext cx="438912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0" y="446227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L9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182112" y="4462272"/>
            <a:ext cx="3218688" cy="402336"/>
          </a:xfrm>
          <a:prstGeom prst="rect">
            <a:avLst/>
          </a:prstGeom>
          <a:solidFill>
            <a:srgbClr val="3B1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18688" y="446227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Time-Shift / Session Pattern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446520" y="4462272"/>
            <a:ext cx="86868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6520" y="446227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NEXT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5029200" y="4864608"/>
            <a:ext cx="0" cy="54864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81" name="Shape 79"/>
          <p:cNvSpPr/>
          <p:nvPr/>
        </p:nvSpPr>
        <p:spPr>
          <a:xfrm>
            <a:off x="2743200" y="4919472"/>
            <a:ext cx="438912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43200" y="491947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182112" y="4919472"/>
            <a:ext cx="3218688" cy="402336"/>
          </a:xfrm>
          <a:prstGeom prst="rect">
            <a:avLst/>
          </a:prstGeom>
          <a:solidFill>
            <a:srgbClr val="2D0A0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18688" y="491947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rule resolves conflict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446520" y="4919472"/>
            <a:ext cx="86868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46520" y="491947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GUEST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2331720" y="1051560"/>
            <a:ext cx="41148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</p:sp>
      <p:sp>
        <p:nvSpPr>
          <p:cNvPr id="88" name="Shape 86"/>
          <p:cNvSpPr/>
          <p:nvPr/>
        </p:nvSpPr>
        <p:spPr>
          <a:xfrm>
            <a:off x="7589520" y="804672"/>
            <a:ext cx="1645920" cy="2231136"/>
          </a:xfrm>
          <a:prstGeom prst="rect">
            <a:avLst/>
          </a:prstGeom>
          <a:solidFill>
            <a:srgbClr val="0A2E1A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7589520" y="804672"/>
            <a:ext cx="164592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(Attributed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 / Strategy)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7589520" y="3547872"/>
            <a:ext cx="1645920" cy="859536"/>
          </a:xfrm>
          <a:prstGeom prst="rect">
            <a:avLst/>
          </a:prstGeom>
          <a:solidFill>
            <a:srgbClr val="2A180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7589520" y="3547872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(Symbol / 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Disambig.)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589520" y="4919472"/>
            <a:ext cx="1645920" cy="658368"/>
          </a:xfrm>
          <a:prstGeom prst="rect">
            <a:avLst/>
          </a:prstGeom>
          <a:solidFill>
            <a:srgbClr val="2D0A0A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93" name="Text 91"/>
          <p:cNvSpPr/>
          <p:nvPr/>
        </p:nvSpPr>
        <p:spPr>
          <a:xfrm>
            <a:off x="7589520" y="491947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QUEUE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GUEST CATEGORY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7315200" y="1005840"/>
            <a:ext cx="27432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>
            <a:off x="7315200" y="1463040"/>
            <a:ext cx="27432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>
            <a:off x="7315200" y="1920240"/>
            <a:ext cx="27432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>
            <a:off x="7315200" y="2377440"/>
            <a:ext cx="27432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>
            <a:off x="7315200" y="2834640"/>
            <a:ext cx="27432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>
            <a:off x="7315200" y="3291840"/>
            <a:ext cx="27432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>
            <a:off x="7315200" y="3749040"/>
            <a:ext cx="274320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7315200" y="4206240"/>
            <a:ext cx="274320" cy="2286000"/>
          </a:xfrm>
          <a:prstGeom prst="line">
            <a:avLst/>
          </a:prstGeom>
          <a:noFill/>
          <a:ln w="12700">
            <a:solidFill>
              <a:srgbClr val="059669"/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>
            <a:off x="7315200" y="4663440"/>
            <a:ext cx="274320" cy="2743200"/>
          </a:xfrm>
          <a:prstGeom prst="line">
            <a:avLst/>
          </a:prstGeom>
          <a:noFill/>
          <a:ln w="12700">
            <a:solidFill>
              <a:srgbClr val="059669"/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7315200" y="5120640"/>
            <a:ext cx="27432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>
            <a:off x="9464040" y="850392"/>
            <a:ext cx="2377440" cy="731520"/>
          </a:xfrm>
          <a:prstGeom prst="rect">
            <a:avLst/>
          </a:prstGeom>
          <a:solidFill>
            <a:srgbClr val="1C305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05" name="Text 103"/>
          <p:cNvSpPr/>
          <p:nvPr/>
        </p:nvSpPr>
        <p:spPr>
          <a:xfrm>
            <a:off x="9464040" y="8503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AGGREGATOR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Risk Calculator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9235440" y="1920240"/>
            <a:ext cx="22860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arrow"/>
          </a:ln>
        </p:spPr>
      </p:sp>
      <p:sp>
        <p:nvSpPr>
          <p:cNvPr id="107" name="Shape 105"/>
          <p:cNvSpPr/>
          <p:nvPr/>
        </p:nvSpPr>
        <p:spPr>
          <a:xfrm>
            <a:off x="9464040" y="4965192"/>
            <a:ext cx="2377440" cy="566928"/>
          </a:xfrm>
          <a:prstGeom prst="rect">
            <a:avLst/>
          </a:prstGeom>
          <a:solidFill>
            <a:srgbClr val="1C3050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08" name="Text 106"/>
          <p:cNvSpPr/>
          <p:nvPr/>
        </p:nvSpPr>
        <p:spPr>
          <a:xfrm>
            <a:off x="9464040" y="49651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RESOLVE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(Dispute Screen)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9235440" y="5248656"/>
            <a:ext cx="22860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tailEnd type="arrow"/>
          </a:ln>
        </p:spPr>
      </p:sp>
      <p:sp>
        <p:nvSpPr>
          <p:cNvPr id="110" name="Shape 108"/>
          <p:cNvSpPr/>
          <p:nvPr/>
        </p:nvSpPr>
        <p:spPr>
          <a:xfrm>
            <a:off x="10652760" y="4965192"/>
            <a:ext cx="0" cy="-3383280"/>
          </a:xfrm>
          <a:prstGeom prst="line">
            <a:avLst/>
          </a:prstGeom>
          <a:noFill/>
          <a:ln w="12700">
            <a:solidFill>
              <a:srgbClr val="A78BFA"/>
            </a:solidFill>
            <a:prstDash val="dash"/>
            <a:tailEnd type="arrow"/>
          </a:ln>
        </p:spPr>
      </p:sp>
      <p:sp>
        <p:nvSpPr>
          <p:cNvPr id="111" name="Shape 109"/>
          <p:cNvSpPr/>
          <p:nvPr/>
        </p:nvSpPr>
        <p:spPr>
          <a:xfrm>
            <a:off x="137160" y="5303520"/>
            <a:ext cx="2286000" cy="1371600"/>
          </a:xfrm>
          <a:prstGeom prst="rect">
            <a:avLst/>
          </a:prstGeom>
          <a:solidFill>
            <a:srgbClr val="152438"/>
          </a:solidFill>
          <a:ln w="12700">
            <a:solidFill>
              <a:srgbClr val="2A4A7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12" name="Text 110"/>
          <p:cNvSpPr/>
          <p:nvPr/>
        </p:nvSpPr>
        <p:spPr>
          <a:xfrm>
            <a:off x="228600" y="53766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KEY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228600" y="5614416"/>
            <a:ext cx="164592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57200" y="56144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assignment — stop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228600" y="5861304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57200" y="586130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Disambiguation required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28600" y="6108192"/>
            <a:ext cx="1645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57200" y="6108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Dispute / Guest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228600" y="6355080"/>
            <a:ext cx="164592" cy="1645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57200" y="63550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P&amp;L + Risk Engine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6459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Interaction Map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4320" y="52120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screens and services communicate at runtime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868680"/>
            <a:ext cx="1828800" cy="594360"/>
          </a:xfrm>
          <a:prstGeom prst="rect">
            <a:avLst/>
          </a:prstGeom>
          <a:solidFill>
            <a:srgbClr val="1C30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868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103120"/>
            <a:ext cx="1828800" cy="594360"/>
          </a:xfrm>
          <a:prstGeom prst="rect">
            <a:avLst/>
          </a:prstGeom>
          <a:solidFill>
            <a:srgbClr val="1C30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2103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0" y="1280160"/>
            <a:ext cx="2560320" cy="822960"/>
          </a:xfrm>
          <a:prstGeom prst="rect">
            <a:avLst/>
          </a:prstGeom>
          <a:solidFill>
            <a:srgbClr val="1C305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0" y="1280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Engine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0" y="2468880"/>
            <a:ext cx="2560320" cy="594360"/>
          </a:xfrm>
          <a:prstGeom prst="rect">
            <a:avLst/>
          </a:prstGeom>
          <a:solidFill>
            <a:srgbClr val="1C305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0" y="24688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52160" y="1280160"/>
            <a:ext cx="2286000" cy="594360"/>
          </a:xfrm>
          <a:prstGeom prst="rect">
            <a:avLst/>
          </a:prstGeom>
          <a:solidFill>
            <a:srgbClr val="1C305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52160" y="1280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852160" y="2468880"/>
            <a:ext cx="2286000" cy="594360"/>
          </a:xfrm>
          <a:prstGeom prst="rect">
            <a:avLst/>
          </a:prstGeom>
          <a:solidFill>
            <a:srgbClr val="1C305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52160" y="2468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Store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(DB)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200400"/>
            <a:ext cx="1828800" cy="502920"/>
          </a:xfrm>
          <a:prstGeom prst="rect">
            <a:avLst/>
          </a:prstGeom>
          <a:solidFill>
            <a:srgbClr val="1C305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4320" y="3200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Store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(DB)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0" y="3383280"/>
            <a:ext cx="2560320" cy="502920"/>
          </a:xfrm>
          <a:prstGeom prst="rect">
            <a:avLst/>
          </a:prstGeom>
          <a:solidFill>
            <a:srgbClr val="1C3050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743200" y="3383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Queue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(DB)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852160" y="3383280"/>
            <a:ext cx="2286000" cy="502920"/>
          </a:xfrm>
          <a:prstGeom prst="rect">
            <a:avLst/>
          </a:prstGeom>
          <a:solidFill>
            <a:srgbClr val="1C3050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85216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/ Common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686800" y="822960"/>
            <a:ext cx="3200400" cy="594360"/>
          </a:xfrm>
          <a:prstGeom prst="rect">
            <a:avLst/>
          </a:prstGeom>
          <a:solidFill>
            <a:srgbClr val="1C3050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686800" y="8229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(Leaderboard)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686800" y="1600200"/>
            <a:ext cx="3200400" cy="594360"/>
          </a:xfrm>
          <a:prstGeom prst="rect">
            <a:avLst/>
          </a:prstGeom>
          <a:solidFill>
            <a:srgbClr val="1C3050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686800" y="16002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Detail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Risk Tab)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686800" y="2377440"/>
            <a:ext cx="3200400" cy="502920"/>
          </a:xfrm>
          <a:prstGeom prst="rect">
            <a:avLst/>
          </a:prstGeom>
          <a:solidFill>
            <a:srgbClr val="1C3050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68680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by Symbol View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686800" y="3017520"/>
            <a:ext cx="3200400" cy="502920"/>
          </a:xfrm>
          <a:prstGeom prst="rect">
            <a:avLst/>
          </a:prstGeom>
          <a:solidFill>
            <a:srgbClr val="1C3050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68680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View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686800" y="3657600"/>
            <a:ext cx="3200400" cy="502920"/>
          </a:xfrm>
          <a:prstGeom prst="rect">
            <a:avLst/>
          </a:prstGeom>
          <a:solidFill>
            <a:srgbClr val="1C3050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68680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Screen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686800" y="4297680"/>
            <a:ext cx="3200400" cy="502920"/>
          </a:xfrm>
          <a:prstGeom prst="rect">
            <a:avLst/>
          </a:prstGeom>
          <a:solidFill>
            <a:srgbClr val="1C30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686800" y="4297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Screen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103120" y="1165860"/>
            <a:ext cx="64008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2103120" y="1165860"/>
            <a:ext cx="640080" cy="52578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1188720" y="2697480"/>
            <a:ext cx="0" cy="50292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2103120" y="3451860"/>
            <a:ext cx="640080" cy="-1595628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5303520" y="1691640"/>
            <a:ext cx="548640" cy="-11430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4023360" y="2103120"/>
            <a:ext cx="0" cy="36576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5303520" y="1938528"/>
            <a:ext cx="548640" cy="827532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4023360" y="2103120"/>
            <a:ext cx="0" cy="128016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5303520" y="2103120"/>
            <a:ext cx="548640" cy="1280160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  <a:tailEnd type="arrow"/>
          </a:ln>
        </p:spPr>
      </p:sp>
      <p:sp>
        <p:nvSpPr>
          <p:cNvPr id="55" name="Shape 53"/>
          <p:cNvSpPr/>
          <p:nvPr/>
        </p:nvSpPr>
        <p:spPr>
          <a:xfrm>
            <a:off x="5303520" y="2766060"/>
            <a:ext cx="54864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8138160" y="1577340"/>
            <a:ext cx="548640" cy="-45720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8138160" y="1577340"/>
            <a:ext cx="548640" cy="32004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arrow"/>
          </a:ln>
        </p:spPr>
      </p:sp>
      <p:sp>
        <p:nvSpPr>
          <p:cNvPr id="58" name="Shape 56"/>
          <p:cNvSpPr/>
          <p:nvPr/>
        </p:nvSpPr>
        <p:spPr>
          <a:xfrm>
            <a:off x="8138160" y="1577340"/>
            <a:ext cx="548640" cy="105156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arrow"/>
          </a:ln>
        </p:spPr>
      </p:sp>
      <p:sp>
        <p:nvSpPr>
          <p:cNvPr id="59" name="Shape 57"/>
          <p:cNvSpPr/>
          <p:nvPr/>
        </p:nvSpPr>
        <p:spPr>
          <a:xfrm>
            <a:off x="8138160" y="1577340"/>
            <a:ext cx="548640" cy="169164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8138160" y="2766060"/>
            <a:ext cx="548640" cy="-749808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  <a:tailEnd type="arrow"/>
          </a:ln>
        </p:spPr>
      </p:sp>
      <p:sp>
        <p:nvSpPr>
          <p:cNvPr id="61" name="Shape 59"/>
          <p:cNvSpPr/>
          <p:nvPr/>
        </p:nvSpPr>
        <p:spPr>
          <a:xfrm>
            <a:off x="5303520" y="3634740"/>
            <a:ext cx="3383280" cy="274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tailEnd type="arrow"/>
          </a:ln>
        </p:spPr>
      </p:sp>
      <p:sp>
        <p:nvSpPr>
          <p:cNvPr id="62" name="Shape 60"/>
          <p:cNvSpPr/>
          <p:nvPr/>
        </p:nvSpPr>
        <p:spPr>
          <a:xfrm>
            <a:off x="2103120" y="3451860"/>
            <a:ext cx="6583680" cy="109728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  <a:tailEnd type="arrow"/>
          </a:ln>
        </p:spPr>
      </p:sp>
      <p:sp>
        <p:nvSpPr>
          <p:cNvPr id="63" name="Text 61"/>
          <p:cNvSpPr/>
          <p:nvPr/>
        </p:nvSpPr>
        <p:spPr>
          <a:xfrm>
            <a:off x="27432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743200" y="482803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852160" y="4828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8686800" y="482803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2651760" y="731520"/>
            <a:ext cx="0" cy="4206240"/>
          </a:xfrm>
          <a:prstGeom prst="line">
            <a:avLst/>
          </a:prstGeom>
          <a:noFill/>
          <a:ln w="12700">
            <a:solidFill>
              <a:srgbClr val="2A4A72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5760720" y="731520"/>
            <a:ext cx="0" cy="4206240"/>
          </a:xfrm>
          <a:prstGeom prst="line">
            <a:avLst/>
          </a:prstGeom>
          <a:noFill/>
          <a:ln w="12700">
            <a:solidFill>
              <a:srgbClr val="2A4A72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8595360" y="731520"/>
            <a:ext cx="0" cy="4206240"/>
          </a:xfrm>
          <a:prstGeom prst="line">
            <a:avLst/>
          </a:prstGeom>
          <a:noFill/>
          <a:ln w="12700">
            <a:solidFill>
              <a:srgbClr val="2A4A72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137160" y="5029200"/>
            <a:ext cx="6858000" cy="685800"/>
          </a:xfrm>
          <a:prstGeom prst="rect">
            <a:avLst/>
          </a:prstGeom>
          <a:solidFill>
            <a:srgbClr val="152438"/>
          </a:solidFill>
          <a:ln w="12700">
            <a:solidFill>
              <a:srgbClr val="2A4A7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256032" y="507492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KEY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256032" y="5358384"/>
            <a:ext cx="32004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arrow"/>
          </a:ln>
        </p:spPr>
      </p:sp>
      <p:sp>
        <p:nvSpPr>
          <p:cNvPr id="73" name="Text 71"/>
          <p:cNvSpPr/>
          <p:nvPr/>
        </p:nvSpPr>
        <p:spPr>
          <a:xfrm>
            <a:off x="621792" y="5276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data flow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591056" y="5358384"/>
            <a:ext cx="32004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arrow"/>
          </a:ln>
        </p:spPr>
      </p:sp>
      <p:sp>
        <p:nvSpPr>
          <p:cNvPr id="75" name="Text 73"/>
          <p:cNvSpPr/>
          <p:nvPr/>
        </p:nvSpPr>
        <p:spPr>
          <a:xfrm>
            <a:off x="1956816" y="5276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926080" y="5358384"/>
            <a:ext cx="32004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tailEnd type="arrow"/>
          </a:ln>
        </p:spPr>
      </p:sp>
      <p:sp>
        <p:nvSpPr>
          <p:cNvPr id="77" name="Text 75"/>
          <p:cNvSpPr/>
          <p:nvPr/>
        </p:nvSpPr>
        <p:spPr>
          <a:xfrm>
            <a:off x="3291840" y="5276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to UI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261104" y="5358384"/>
            <a:ext cx="32004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arrow"/>
          </a:ln>
        </p:spPr>
      </p:sp>
      <p:sp>
        <p:nvSpPr>
          <p:cNvPr id="79" name="Text 77"/>
          <p:cNvSpPr/>
          <p:nvPr/>
        </p:nvSpPr>
        <p:spPr>
          <a:xfrm>
            <a:off x="4626864" y="5276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read/write (dashed)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5596128" y="5358384"/>
            <a:ext cx="32004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tailEnd type="arrow"/>
          </a:ln>
        </p:spPr>
      </p:sp>
      <p:sp>
        <p:nvSpPr>
          <p:cNvPr id="81" name="Text 79"/>
          <p:cNvSpPr/>
          <p:nvPr/>
        </p:nvSpPr>
        <p:spPr>
          <a:xfrm>
            <a:off x="5961888" y="5276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/ exception path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Trading Performance Dashboard — Architecture</dc:title>
  <dc:subject>PptxGenJS Presentation</dc:subject>
  <dc:creator>PptxGenJS</dc:creator>
  <cp:lastModifiedBy>PptxGenJS</cp:lastModifiedBy>
  <cp:revision>1</cp:revision>
  <dcterms:created xsi:type="dcterms:W3CDTF">2026-04-01T18:14:42Z</dcterms:created>
  <dcterms:modified xsi:type="dcterms:W3CDTF">2026-04-01T18:14:42Z</dcterms:modified>
</cp:coreProperties>
</file>